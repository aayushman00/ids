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Model size (MB)</a:t>
            </a:r>
          </a:p>
        </c:rich>
      </c:tx>
      <c:layout/>
      <c:overlay val="0"/>
    </c:title>
    <c:autoTitleDeleted val="0"/>
    <c:plotArea>
      <c:layout/>
      <c:barChart>
        <c:barDir val="col"/>
        <c:grouping val="clustered"/>
        <c:varyColors val="0"/>
        <c:ser>
          <c:idx val="0"/>
          <c:order val="0"/>
          <c:tx>
            <c:strRef>
              <c:f>Sheet1!$B$1</c:f>
              <c:strCache>
                <c:ptCount val="1"/>
                <c:pt idx="0">
                  <c:v>Model size (MB)</c:v>
                </c:pt>
              </c:strCache>
            </c:strRef>
          </c:tx>
          <c:spPr>
            <a:solidFill>
              <a:srgbClr val="0E8C80"/>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Keras</c:v>
                  </c:pt>
                  <c:pt idx="1">
                    <c:v>TFLite float32</c:v>
                  </c:pt>
                  <c:pt idx="2">
                    <c:v>TFLite int8</c:v>
                  </c:pt>
                </c:lvl>
              </c:multiLvlStrCache>
            </c:multiLvlStrRef>
          </c:cat>
          <c:val>
            <c:numRef>
              <c:f>Sheet1!$B$2:$B$4</c:f>
              <c:numCache>
                <c:formatCode>General</c:formatCode>
                <c:ptCount val="3"/>
                <c:pt idx="0">
                  <c:v>1.043</c:v>
                </c:pt>
                <c:pt idx="1">
                  <c:v>0.42</c:v>
                </c:pt>
                <c:pt idx="2">
                  <c:v>0.197</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Score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5B6472"/>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(weighted)</c:v>
                  </c:pt>
                </c:lvl>
              </c:multiLvlStrCache>
            </c:multiLvlStrRef>
          </c:cat>
          <c:val>
            <c:numRef>
              <c:f>Sheet1!$B$2:$B$3</c:f>
              <c:numCache>
                <c:formatCode>General</c:formatCode>
                <c:ptCount val="2"/>
                <c:pt idx="0">
                  <c:v>98.42</c:v>
                </c:pt>
                <c:pt idx="1">
                  <c:v>98.57</c:v>
                </c:pt>
              </c:numCache>
            </c:numRef>
          </c:val>
        </c:ser>
        <c:ser>
          <c:idx val="1"/>
          <c:order val="1"/>
          <c:tx>
            <c:strRef>
              <c:f>Sheet1!$C$1</c:f>
              <c:strCache>
                <c:ptCount val="1"/>
                <c:pt idx="0">
                  <c:v>Ours</c:v>
                </c:pt>
              </c:strCache>
            </c:strRef>
          </c:tx>
          <c:spPr>
            <a:solidFill>
              <a:srgbClr val="C0392B"/>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(weighted)</c:v>
                  </c:pt>
                </c:lvl>
              </c:multiLvlStrCache>
            </c:multiLvlStrRef>
          </c:cat>
          <c:val>
            <c:numRef>
              <c:f>Sheet1!$C$2:$C$3</c:f>
              <c:numCache>
                <c:formatCode>General</c:formatCode>
                <c:ptCount val="2"/>
                <c:pt idx="0">
                  <c:v>98.74</c:v>
                </c:pt>
                <c:pt idx="1">
                  <c:v>98.86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97"/>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IoT security. IoT devices cannot defend themselves, so we look at a small detector that sits at the gateway and watches network traffic. The detector comes from a published paper, which we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 devices are constrained and often ship with weak credentials. They cannot run an antivirus. A compromised device is usually silent: the owner sees nothing, but the device attacks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Floods are loud and easy to see. Reconnaissance, spoofing and web attacks are quiet and are the hard cases, as our error analysis will show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does not run on the tiny devices. It runs on the gateway, where all traffic is visible. This slide is the proposed deployment. In this project we evaluated the detector on a recorded dataset; running it live on a gateway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recorded traffic from a real IoT lab with 105 devices. We use this recorded traffic; we did not capture our own. Only about 2.7% of flows are benign, which will matter when we read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CICIoT2023 already provides flow-level features, which is what we train on. In a live system, a flow extractor such as CICFlowMeter would have to produce the same features on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model description short on purpose. It is a convolutional layer stack followed by an LSTM branch, about 80 thousand parameters. The important number for IoT is the size: around one megabyte.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98.74%, 0.32 points above the paper's 98.42%. But accuracy alone is misleading on this imbalanced data, so we focus on attacks caught and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is excellent on loud attacks and weak on quiet ones. That is an honest limit of looking at flow statistics only, and it is why we describe the IDS as one security layer, not the whole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Quantized to int8 the model is 0.20 MB and takes 0.037 ms per flow on a CPU, with no accuracy loss. This suggests it would fit a gateway like a Raspberry Pi, but we have only measured on a laptop CPU, so we say 'suggests', not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critical finding. The paper's architecture works, but its LSTM branch gives no measurable benefit, and a plain Random Forest beats it. For IoT, where simplicity matters, that is a useful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claim reproduces. Differences come from the data subset, the split, removed duplicates and unstated hyperparameters; all are listed in 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traffic_replay.mp4 here. Stress that this is recorded data replayed, not a live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we did not deploy on hardware and we did not capture live traffic. The biggest practical gap is live flow-feature extraction that matches the dataset's feature definitions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IoT message: protect many weak devices from one place, with a model small enough for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91440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Securing IoT Networks</a:t>
            </a:r>
            <a:endParaRPr lang="en-US" sz="3800" dirty="0"/>
          </a:p>
        </p:txBody>
      </p:sp>
      <p:sp>
        <p:nvSpPr>
          <p:cNvPr id="3" name="Text 1"/>
          <p:cNvSpPr txBox="1"/>
          <p:nvPr/>
        </p:nvSpPr>
        <p:spPr>
          <a:xfrm>
            <a:off x="548640" y="1691640"/>
            <a:ext cx="8046720" cy="457200"/>
          </a:xfrm>
          <a:prstGeom prst="rect">
            <a:avLst/>
          </a:prstGeom>
          <a:noFill/>
          <a:ln/>
        </p:spPr>
        <p:txBody>
          <a:bodyPr wrap="square" lIns="0" tIns="0" rIns="0" bIns="0" rtlCol="0" anchor="ctr"/>
          <a:lstStyle/>
          <a:p>
            <a:pPr indent="0" marL="0">
              <a:buNone/>
            </a:pPr>
            <a:r>
              <a:rPr lang="en-US" sz="2000" dirty="0">
                <a:solidFill>
                  <a:srgbClr val="9FE3DA"/>
                </a:solidFill>
                <a:latin typeface="Calibri" pitchFamily="34" charset="0"/>
                <a:ea typeface="Calibri" pitchFamily="34" charset="-122"/>
                <a:cs typeface="Calibri" pitchFamily="34" charset="-120"/>
              </a:rPr>
              <a:t>A lightweight, flow-based intrusion detector for the IoT gateway</a:t>
            </a:r>
            <a:endParaRPr lang="en-US" sz="2000" dirty="0"/>
          </a:p>
        </p:txBody>
      </p:sp>
      <p:sp>
        <p:nvSpPr>
          <p:cNvPr id="4" name="Text 2"/>
          <p:cNvSpPr txBox="1"/>
          <p:nvPr/>
        </p:nvSpPr>
        <p:spPr>
          <a:xfrm>
            <a:off x="548640" y="2377440"/>
            <a:ext cx="7680960" cy="640080"/>
          </a:xfrm>
          <a:prstGeom prst="rect">
            <a:avLst/>
          </a:prstGeom>
          <a:noFill/>
          <a:ln/>
        </p:spPr>
        <p:txBody>
          <a:bodyPr wrap="square" lIns="0" tIns="0" rIns="0" bIns="0" rtlCol="0" anchor="ctr"/>
          <a:lstStyle/>
          <a:p>
            <a:pPr indent="0" marL="0">
              <a:buNone/>
            </a:pPr>
            <a:r>
              <a:rPr lang="en-US" sz="1200" dirty="0">
                <a:solidFill>
                  <a:srgbClr val="C9D3DD"/>
                </a:solidFill>
                <a:latin typeface="Calibri" pitchFamily="34" charset="0"/>
                <a:ea typeface="Calibri" pitchFamily="34" charset="-122"/>
                <a:cs typeface="Calibri" pitchFamily="34" charset="-120"/>
              </a:rPr>
              <a:t>Built by reproducing Gueriani, Kheddar &amp; Mazari, "Enhancing IoT Security with CNN and LSTM-Based Intrusion Detection Systems", IEEE PAIS 2024, on the CICIoT2023 IoT testbed dataset.</a:t>
            </a:r>
            <a:endParaRPr lang="en-US" sz="1200" dirty="0"/>
          </a:p>
        </p:txBody>
      </p:sp>
      <p:sp>
        <p:nvSpPr>
          <p:cNvPr id="5" name="Text 3"/>
          <p:cNvSpPr txBox="1"/>
          <p:nvPr/>
        </p:nvSpPr>
        <p:spPr>
          <a:xfrm>
            <a:off x="548640" y="3291840"/>
            <a:ext cx="4572000" cy="1005840"/>
          </a:xfrm>
          <a:prstGeom prst="rect">
            <a:avLst/>
          </a:prstGeom>
          <a:noFill/>
          <a:ln/>
        </p:spPr>
        <p:txBody>
          <a:bodyPr wrap="square" lIns="0" tIns="0" rIns="0" bIns="0" rtlCol="0" anchor="ctr"/>
          <a:lstStyle/>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Aayushman (231CS105)</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Ashutosh Kumar (231CS113)</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Sahil Mengji (231CS151)</a:t>
            </a:r>
            <a:endParaRPr lang="en-US" sz="1500" dirty="0"/>
          </a:p>
        </p:txBody>
      </p:sp>
      <p:sp>
        <p:nvSpPr>
          <p:cNvPr id="6" name="Text 4"/>
          <p:cNvSpPr txBox="1"/>
          <p:nvPr/>
        </p:nvSpPr>
        <p:spPr>
          <a:xfrm>
            <a:off x="5303520" y="3291840"/>
            <a:ext cx="3291840" cy="1005840"/>
          </a:xfrm>
          <a:prstGeom prst="rect">
            <a:avLst/>
          </a:prstGeom>
          <a:noFill/>
          <a:ln/>
        </p:spPr>
        <p:txBody>
          <a:bodyPr wrap="square" lIns="0" tIns="0" rIns="0" bIns="0" rtlCol="0" anchor="ctr"/>
          <a:lstStyle/>
          <a:p>
            <a:pPr algn="r" indent="0" marL="0">
              <a:spcAft>
                <a:spcPts val="400"/>
              </a:spcAft>
              <a:buNone/>
            </a:pPr>
            <a:r>
              <a:rPr lang="en-US" sz="1300" dirty="0">
                <a:solidFill>
                  <a:srgbClr val="C9D3DD"/>
                </a:solidFill>
                <a:latin typeface="Calibri" pitchFamily="34" charset="0"/>
                <a:ea typeface="Calibri" pitchFamily="34" charset="-122"/>
                <a:cs typeface="Calibri" pitchFamily="34" charset="-120"/>
              </a:rPr>
              <a:t>Internet of Things</a:t>
            </a:r>
            <a:endParaRPr lang="en-US" sz="1300" dirty="0"/>
          </a:p>
          <a:p>
            <a:pPr algn="r" indent="0" marL="0">
              <a:spcAft>
                <a:spcPts val="400"/>
              </a:spcAft>
              <a:buNone/>
            </a:pPr>
            <a:r>
              <a:rPr lang="en-US" sz="1300" dirty="0">
                <a:solidFill>
                  <a:srgbClr val="C9D3DD"/>
                </a:solidFill>
                <a:latin typeface="Calibri" pitchFamily="34" charset="0"/>
                <a:ea typeface="Calibri" pitchFamily="34" charset="-122"/>
                <a:cs typeface="Calibri" pitchFamily="34" charset="-120"/>
              </a:rPr>
              <a:t>Instructor: Mr. Sridhar Sanshi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IoT devices are easy targets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They cannot protect themselves, so the network has to</a:t>
            </a:r>
            <a:endParaRPr lang="en-US" sz="1300" dirty="0"/>
          </a:p>
        </p:txBody>
      </p:sp>
      <p:sp>
        <p:nvSpPr>
          <p:cNvPr id="4" name="Shape 2"/>
          <p:cNvSpPr/>
          <p:nvPr/>
        </p:nvSpPr>
        <p:spPr>
          <a:xfrm>
            <a:off x="457200" y="1371600"/>
            <a:ext cx="4023360" cy="1280160"/>
          </a:xfrm>
          <a:prstGeom prst="roundRect">
            <a:avLst>
              <a:gd name="adj" fmla="val 5714"/>
            </a:avLst>
          </a:prstGeom>
          <a:solidFill>
            <a:srgbClr val="F1F5F8"/>
          </a:solidFill>
          <a:ln w="12700">
            <a:solidFill>
              <a:srgbClr val="F1F5F8"/>
            </a:solidFill>
            <a:prstDash val="solid"/>
          </a:ln>
        </p:spPr>
      </p:sp>
      <p:sp>
        <p:nvSpPr>
          <p:cNvPr id="5" name="Shape 3"/>
          <p:cNvSpPr/>
          <p:nvPr/>
        </p:nvSpPr>
        <p:spPr>
          <a:xfrm>
            <a:off x="640080" y="1554480"/>
            <a:ext cx="384048" cy="384048"/>
          </a:xfrm>
          <a:prstGeom prst="ellipse">
            <a:avLst/>
          </a:prstGeom>
          <a:solidFill>
            <a:srgbClr val="0E8C80"/>
          </a:solidFill>
          <a:ln w="12700">
            <a:solidFill>
              <a:srgbClr val="0E8C80"/>
            </a:solidFill>
            <a:prstDash val="solid"/>
          </a:ln>
        </p:spPr>
      </p:sp>
      <p:sp>
        <p:nvSpPr>
          <p:cNvPr id="6" name="Text 4"/>
          <p:cNvSpPr txBox="1"/>
          <p:nvPr/>
        </p:nvSpPr>
        <p:spPr>
          <a:xfrm>
            <a:off x="64008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143000" y="1536192"/>
            <a:ext cx="3200400" cy="41148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Tiny hardware</a:t>
            </a:r>
            <a:endParaRPr lang="en-US" sz="1500" dirty="0"/>
          </a:p>
        </p:txBody>
      </p:sp>
      <p:sp>
        <p:nvSpPr>
          <p:cNvPr id="8" name="Text 6"/>
          <p:cNvSpPr txBox="1"/>
          <p:nvPr/>
        </p:nvSpPr>
        <p:spPr>
          <a:xfrm>
            <a:off x="640080" y="2029968"/>
            <a:ext cx="3657600" cy="5486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Little CPU and RAM: no room for antivirus or heavy security software</a:t>
            </a:r>
            <a:endParaRPr lang="en-US" sz="1250" dirty="0"/>
          </a:p>
        </p:txBody>
      </p:sp>
      <p:sp>
        <p:nvSpPr>
          <p:cNvPr id="9" name="Shape 7"/>
          <p:cNvSpPr/>
          <p:nvPr/>
        </p:nvSpPr>
        <p:spPr>
          <a:xfrm>
            <a:off x="4663440" y="1371600"/>
            <a:ext cx="4023360" cy="1280160"/>
          </a:xfrm>
          <a:prstGeom prst="roundRect">
            <a:avLst>
              <a:gd name="adj" fmla="val 5714"/>
            </a:avLst>
          </a:prstGeom>
          <a:solidFill>
            <a:srgbClr val="F1F5F8"/>
          </a:solidFill>
          <a:ln w="12700">
            <a:solidFill>
              <a:srgbClr val="F1F5F8"/>
            </a:solidFill>
            <a:prstDash val="solid"/>
          </a:ln>
        </p:spPr>
      </p:sp>
      <p:sp>
        <p:nvSpPr>
          <p:cNvPr id="10" name="Shape 8"/>
          <p:cNvSpPr/>
          <p:nvPr/>
        </p:nvSpPr>
        <p:spPr>
          <a:xfrm>
            <a:off x="4846320" y="1554480"/>
            <a:ext cx="384048" cy="384048"/>
          </a:xfrm>
          <a:prstGeom prst="ellipse">
            <a:avLst/>
          </a:prstGeom>
          <a:solidFill>
            <a:srgbClr val="0E8C80"/>
          </a:solidFill>
          <a:ln w="12700">
            <a:solidFill>
              <a:srgbClr val="0E8C80"/>
            </a:solidFill>
            <a:prstDash val="solid"/>
          </a:ln>
        </p:spPr>
      </p:sp>
      <p:sp>
        <p:nvSpPr>
          <p:cNvPr id="11" name="Text 9"/>
          <p:cNvSpPr txBox="1"/>
          <p:nvPr/>
        </p:nvSpPr>
        <p:spPr>
          <a:xfrm>
            <a:off x="484632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5349240" y="1536192"/>
            <a:ext cx="3200400" cy="41148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Weak defaults</a:t>
            </a:r>
            <a:endParaRPr lang="en-US" sz="1500" dirty="0"/>
          </a:p>
        </p:txBody>
      </p:sp>
      <p:sp>
        <p:nvSpPr>
          <p:cNvPr id="13" name="Text 11"/>
          <p:cNvSpPr txBox="1"/>
          <p:nvPr/>
        </p:nvSpPr>
        <p:spPr>
          <a:xfrm>
            <a:off x="4846320" y="2029968"/>
            <a:ext cx="3657600" cy="5486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Default or hard-coded passwords, rarely patched firmware</a:t>
            </a:r>
            <a:endParaRPr lang="en-US" sz="1250" dirty="0"/>
          </a:p>
        </p:txBody>
      </p:sp>
      <p:sp>
        <p:nvSpPr>
          <p:cNvPr id="14" name="Shape 12"/>
          <p:cNvSpPr/>
          <p:nvPr/>
        </p:nvSpPr>
        <p:spPr>
          <a:xfrm>
            <a:off x="457200" y="2834640"/>
            <a:ext cx="4023360" cy="1280160"/>
          </a:xfrm>
          <a:prstGeom prst="roundRect">
            <a:avLst>
              <a:gd name="adj" fmla="val 5714"/>
            </a:avLst>
          </a:prstGeom>
          <a:solidFill>
            <a:srgbClr val="F1F5F8"/>
          </a:solidFill>
          <a:ln w="12700">
            <a:solidFill>
              <a:srgbClr val="F1F5F8"/>
            </a:solidFill>
            <a:prstDash val="solid"/>
          </a:ln>
        </p:spPr>
      </p:sp>
      <p:sp>
        <p:nvSpPr>
          <p:cNvPr id="15" name="Shape 13"/>
          <p:cNvSpPr/>
          <p:nvPr/>
        </p:nvSpPr>
        <p:spPr>
          <a:xfrm>
            <a:off x="640080" y="3017520"/>
            <a:ext cx="384048" cy="384048"/>
          </a:xfrm>
          <a:prstGeom prst="ellipse">
            <a:avLst/>
          </a:prstGeom>
          <a:solidFill>
            <a:srgbClr val="0E8C80"/>
          </a:solidFill>
          <a:ln w="12700">
            <a:solidFill>
              <a:srgbClr val="0E8C80"/>
            </a:solidFill>
            <a:prstDash val="solid"/>
          </a:ln>
        </p:spPr>
      </p:sp>
      <p:sp>
        <p:nvSpPr>
          <p:cNvPr id="16" name="Text 14"/>
          <p:cNvSpPr txBox="1"/>
          <p:nvPr/>
        </p:nvSpPr>
        <p:spPr>
          <a:xfrm>
            <a:off x="64008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143000" y="2999232"/>
            <a:ext cx="3200400" cy="41148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Always on, always connected</a:t>
            </a:r>
            <a:endParaRPr lang="en-US" sz="1500" dirty="0"/>
          </a:p>
        </p:txBody>
      </p:sp>
      <p:sp>
        <p:nvSpPr>
          <p:cNvPr id="18" name="Text 16"/>
          <p:cNvSpPr txBox="1"/>
          <p:nvPr/>
        </p:nvSpPr>
        <p:spPr>
          <a:xfrm>
            <a:off x="640080" y="3493008"/>
            <a:ext cx="3657600" cy="5486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Cameras, plugs and sensors stay online 24/7 and are reachable from the internet</a:t>
            </a:r>
            <a:endParaRPr lang="en-US" sz="1250" dirty="0"/>
          </a:p>
        </p:txBody>
      </p:sp>
      <p:sp>
        <p:nvSpPr>
          <p:cNvPr id="19" name="Shape 17"/>
          <p:cNvSpPr/>
          <p:nvPr/>
        </p:nvSpPr>
        <p:spPr>
          <a:xfrm>
            <a:off x="4663440" y="2834640"/>
            <a:ext cx="4023360" cy="1280160"/>
          </a:xfrm>
          <a:prstGeom prst="roundRect">
            <a:avLst>
              <a:gd name="adj" fmla="val 5714"/>
            </a:avLst>
          </a:prstGeom>
          <a:solidFill>
            <a:srgbClr val="F1F5F8"/>
          </a:solidFill>
          <a:ln w="12700">
            <a:solidFill>
              <a:srgbClr val="F1F5F8"/>
            </a:solidFill>
            <a:prstDash val="solid"/>
          </a:ln>
        </p:spPr>
      </p:sp>
      <p:sp>
        <p:nvSpPr>
          <p:cNvPr id="20" name="Shape 18"/>
          <p:cNvSpPr/>
          <p:nvPr/>
        </p:nvSpPr>
        <p:spPr>
          <a:xfrm>
            <a:off x="4846320" y="3017520"/>
            <a:ext cx="384048" cy="384048"/>
          </a:xfrm>
          <a:prstGeom prst="ellipse">
            <a:avLst/>
          </a:prstGeom>
          <a:solidFill>
            <a:srgbClr val="0E8C80"/>
          </a:solidFill>
          <a:ln w="12700">
            <a:solidFill>
              <a:srgbClr val="0E8C80"/>
            </a:solidFill>
            <a:prstDash val="solid"/>
          </a:ln>
        </p:spPr>
      </p:sp>
      <p:sp>
        <p:nvSpPr>
          <p:cNvPr id="21" name="Text 19"/>
          <p:cNvSpPr txBox="1"/>
          <p:nvPr/>
        </p:nvSpPr>
        <p:spPr>
          <a:xfrm>
            <a:off x="484632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5349240" y="2999232"/>
            <a:ext cx="3200400" cy="41148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Many device types</a:t>
            </a:r>
            <a:endParaRPr lang="en-US" sz="1500" dirty="0"/>
          </a:p>
        </p:txBody>
      </p:sp>
      <p:sp>
        <p:nvSpPr>
          <p:cNvPr id="23" name="Text 21"/>
          <p:cNvSpPr txBox="1"/>
          <p:nvPr/>
        </p:nvSpPr>
        <p:spPr>
          <a:xfrm>
            <a:off x="4846320" y="3493008"/>
            <a:ext cx="3657600" cy="5486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Different vendors and protocols make one-size-fits-all security hard</a:t>
            </a:r>
            <a:endParaRPr lang="en-US" sz="1250" dirty="0"/>
          </a:p>
        </p:txBody>
      </p:sp>
      <p:sp>
        <p:nvSpPr>
          <p:cNvPr id="24" name="Text 2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Result: one hacked camera can join a botnet, flood other sites, or scan the whole home network.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attacks hit IoT networks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 7 attack families in CICIoT2023 (33 attack types in total)</a:t>
            </a:r>
            <a:endParaRPr lang="en-US" sz="1300" dirty="0"/>
          </a:p>
        </p:txBody>
      </p:sp>
      <p:sp>
        <p:nvSpPr>
          <p:cNvPr id="4" name="Shape 2"/>
          <p:cNvSpPr/>
          <p:nvPr/>
        </p:nvSpPr>
        <p:spPr>
          <a:xfrm>
            <a:off x="457200" y="1325880"/>
            <a:ext cx="1938528" cy="1417320"/>
          </a:xfrm>
          <a:prstGeom prst="roundRect">
            <a:avLst>
              <a:gd name="adj" fmla="val 5161"/>
            </a:avLst>
          </a:prstGeom>
          <a:solidFill>
            <a:srgbClr val="F1F5F8"/>
          </a:solidFill>
          <a:ln w="12700">
            <a:solidFill>
              <a:srgbClr val="F1F5F8"/>
            </a:solidFill>
            <a:prstDash val="solid"/>
          </a:ln>
        </p:spPr>
      </p:sp>
      <p:sp>
        <p:nvSpPr>
          <p:cNvPr id="5" name="Shape 3"/>
          <p:cNvSpPr/>
          <p:nvPr/>
        </p:nvSpPr>
        <p:spPr>
          <a:xfrm>
            <a:off x="594360" y="1463040"/>
            <a:ext cx="182880" cy="182880"/>
          </a:xfrm>
          <a:prstGeom prst="ellipse">
            <a:avLst/>
          </a:prstGeom>
          <a:solidFill>
            <a:srgbClr val="C0392B"/>
          </a:solidFill>
          <a:ln w="12700">
            <a:solidFill>
              <a:srgbClr val="C0392B"/>
            </a:solidFill>
            <a:prstDash val="solid"/>
          </a:ln>
        </p:spPr>
      </p:sp>
      <p:sp>
        <p:nvSpPr>
          <p:cNvPr id="6" name="Text 4"/>
          <p:cNvSpPr txBox="1"/>
          <p:nvPr/>
        </p:nvSpPr>
        <p:spPr>
          <a:xfrm>
            <a:off x="868680" y="14173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DDoS</a:t>
            </a:r>
            <a:endParaRPr lang="en-US" sz="1400" dirty="0"/>
          </a:p>
        </p:txBody>
      </p:sp>
      <p:sp>
        <p:nvSpPr>
          <p:cNvPr id="7" name="Text 5"/>
          <p:cNvSpPr txBox="1"/>
          <p:nvPr/>
        </p:nvSpPr>
        <p:spPr>
          <a:xfrm>
            <a:off x="594360" y="18013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Many hacked devices flood one target (ICMP, UDP, SYN floods)</a:t>
            </a:r>
            <a:endParaRPr lang="en-US" sz="1150" dirty="0"/>
          </a:p>
        </p:txBody>
      </p:sp>
      <p:sp>
        <p:nvSpPr>
          <p:cNvPr id="8" name="Shape 6"/>
          <p:cNvSpPr/>
          <p:nvPr/>
        </p:nvSpPr>
        <p:spPr>
          <a:xfrm>
            <a:off x="2542032" y="1325880"/>
            <a:ext cx="1938528" cy="1417320"/>
          </a:xfrm>
          <a:prstGeom prst="roundRect">
            <a:avLst>
              <a:gd name="adj" fmla="val 5161"/>
            </a:avLst>
          </a:prstGeom>
          <a:solidFill>
            <a:srgbClr val="F1F5F8"/>
          </a:solidFill>
          <a:ln w="12700">
            <a:solidFill>
              <a:srgbClr val="F1F5F8"/>
            </a:solidFill>
            <a:prstDash val="solid"/>
          </a:ln>
        </p:spPr>
      </p:sp>
      <p:sp>
        <p:nvSpPr>
          <p:cNvPr id="9" name="Shape 7"/>
          <p:cNvSpPr/>
          <p:nvPr/>
        </p:nvSpPr>
        <p:spPr>
          <a:xfrm>
            <a:off x="2679192" y="1463040"/>
            <a:ext cx="182880" cy="182880"/>
          </a:xfrm>
          <a:prstGeom prst="ellipse">
            <a:avLst/>
          </a:prstGeom>
          <a:solidFill>
            <a:srgbClr val="C0392B"/>
          </a:solidFill>
          <a:ln w="12700">
            <a:solidFill>
              <a:srgbClr val="C0392B"/>
            </a:solidFill>
            <a:prstDash val="solid"/>
          </a:ln>
        </p:spPr>
      </p:sp>
      <p:sp>
        <p:nvSpPr>
          <p:cNvPr id="10" name="Text 8"/>
          <p:cNvSpPr txBox="1"/>
          <p:nvPr/>
        </p:nvSpPr>
        <p:spPr>
          <a:xfrm>
            <a:off x="2953512" y="14173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DoS</a:t>
            </a:r>
            <a:endParaRPr lang="en-US" sz="1400" dirty="0"/>
          </a:p>
        </p:txBody>
      </p:sp>
      <p:sp>
        <p:nvSpPr>
          <p:cNvPr id="11" name="Text 9"/>
          <p:cNvSpPr txBox="1"/>
          <p:nvPr/>
        </p:nvSpPr>
        <p:spPr>
          <a:xfrm>
            <a:off x="2679192" y="18013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 single source floods a target until it stops responding</a:t>
            </a:r>
            <a:endParaRPr lang="en-US" sz="1150" dirty="0"/>
          </a:p>
        </p:txBody>
      </p:sp>
      <p:sp>
        <p:nvSpPr>
          <p:cNvPr id="12" name="Shape 10"/>
          <p:cNvSpPr/>
          <p:nvPr/>
        </p:nvSpPr>
        <p:spPr>
          <a:xfrm>
            <a:off x="4626864" y="1325880"/>
            <a:ext cx="1938528" cy="1417320"/>
          </a:xfrm>
          <a:prstGeom prst="roundRect">
            <a:avLst>
              <a:gd name="adj" fmla="val 5161"/>
            </a:avLst>
          </a:prstGeom>
          <a:solidFill>
            <a:srgbClr val="F1F5F8"/>
          </a:solidFill>
          <a:ln w="12700">
            <a:solidFill>
              <a:srgbClr val="F1F5F8"/>
            </a:solidFill>
            <a:prstDash val="solid"/>
          </a:ln>
        </p:spPr>
      </p:sp>
      <p:sp>
        <p:nvSpPr>
          <p:cNvPr id="13" name="Shape 11"/>
          <p:cNvSpPr/>
          <p:nvPr/>
        </p:nvSpPr>
        <p:spPr>
          <a:xfrm>
            <a:off x="4764024" y="1463040"/>
            <a:ext cx="182880" cy="182880"/>
          </a:xfrm>
          <a:prstGeom prst="ellipse">
            <a:avLst/>
          </a:prstGeom>
          <a:solidFill>
            <a:srgbClr val="C0392B"/>
          </a:solidFill>
          <a:ln w="12700">
            <a:solidFill>
              <a:srgbClr val="C0392B"/>
            </a:solidFill>
            <a:prstDash val="solid"/>
          </a:ln>
        </p:spPr>
      </p:sp>
      <p:sp>
        <p:nvSpPr>
          <p:cNvPr id="14" name="Text 12"/>
          <p:cNvSpPr txBox="1"/>
          <p:nvPr/>
        </p:nvSpPr>
        <p:spPr>
          <a:xfrm>
            <a:off x="5038344" y="14173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Mirai</a:t>
            </a:r>
            <a:endParaRPr lang="en-US" sz="1400" dirty="0"/>
          </a:p>
        </p:txBody>
      </p:sp>
      <p:sp>
        <p:nvSpPr>
          <p:cNvPr id="15" name="Text 13"/>
          <p:cNvSpPr txBox="1"/>
          <p:nvPr/>
        </p:nvSpPr>
        <p:spPr>
          <a:xfrm>
            <a:off x="4764024" y="18013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Botnet malware traffic: greeth, UDP and similar floods</a:t>
            </a:r>
            <a:endParaRPr lang="en-US" sz="1150" dirty="0"/>
          </a:p>
        </p:txBody>
      </p:sp>
      <p:sp>
        <p:nvSpPr>
          <p:cNvPr id="16" name="Shape 14"/>
          <p:cNvSpPr/>
          <p:nvPr/>
        </p:nvSpPr>
        <p:spPr>
          <a:xfrm>
            <a:off x="6711696" y="1325880"/>
            <a:ext cx="1938528" cy="1417320"/>
          </a:xfrm>
          <a:prstGeom prst="roundRect">
            <a:avLst>
              <a:gd name="adj" fmla="val 5161"/>
            </a:avLst>
          </a:prstGeom>
          <a:solidFill>
            <a:srgbClr val="F1F5F8"/>
          </a:solidFill>
          <a:ln w="12700">
            <a:solidFill>
              <a:srgbClr val="F1F5F8"/>
            </a:solidFill>
            <a:prstDash val="solid"/>
          </a:ln>
        </p:spPr>
      </p:sp>
      <p:sp>
        <p:nvSpPr>
          <p:cNvPr id="17" name="Shape 15"/>
          <p:cNvSpPr/>
          <p:nvPr/>
        </p:nvSpPr>
        <p:spPr>
          <a:xfrm>
            <a:off x="6848856" y="1463040"/>
            <a:ext cx="182880" cy="182880"/>
          </a:xfrm>
          <a:prstGeom prst="ellipse">
            <a:avLst/>
          </a:prstGeom>
          <a:solidFill>
            <a:srgbClr val="B8660B"/>
          </a:solidFill>
          <a:ln w="12700">
            <a:solidFill>
              <a:srgbClr val="B8660B"/>
            </a:solidFill>
            <a:prstDash val="solid"/>
          </a:ln>
        </p:spPr>
      </p:sp>
      <p:sp>
        <p:nvSpPr>
          <p:cNvPr id="18" name="Text 16"/>
          <p:cNvSpPr txBox="1"/>
          <p:nvPr/>
        </p:nvSpPr>
        <p:spPr>
          <a:xfrm>
            <a:off x="7123176" y="14173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Recon</a:t>
            </a:r>
            <a:endParaRPr lang="en-US" sz="1400" dirty="0"/>
          </a:p>
        </p:txBody>
      </p:sp>
      <p:sp>
        <p:nvSpPr>
          <p:cNvPr id="19" name="Text 17"/>
          <p:cNvSpPr txBox="1"/>
          <p:nvPr/>
        </p:nvSpPr>
        <p:spPr>
          <a:xfrm>
            <a:off x="6848856" y="18013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Port scan, OS scan, vulnerability scan: mapping the network</a:t>
            </a:r>
            <a:endParaRPr lang="en-US" sz="1150" dirty="0"/>
          </a:p>
        </p:txBody>
      </p:sp>
      <p:sp>
        <p:nvSpPr>
          <p:cNvPr id="20" name="Shape 18"/>
          <p:cNvSpPr/>
          <p:nvPr/>
        </p:nvSpPr>
        <p:spPr>
          <a:xfrm>
            <a:off x="457200" y="2926080"/>
            <a:ext cx="1938528" cy="1417320"/>
          </a:xfrm>
          <a:prstGeom prst="roundRect">
            <a:avLst>
              <a:gd name="adj" fmla="val 5161"/>
            </a:avLst>
          </a:prstGeom>
          <a:solidFill>
            <a:srgbClr val="F1F5F8"/>
          </a:solidFill>
          <a:ln w="12700">
            <a:solidFill>
              <a:srgbClr val="F1F5F8"/>
            </a:solidFill>
            <a:prstDash val="solid"/>
          </a:ln>
        </p:spPr>
      </p:sp>
      <p:sp>
        <p:nvSpPr>
          <p:cNvPr id="21" name="Shape 19"/>
          <p:cNvSpPr/>
          <p:nvPr/>
        </p:nvSpPr>
        <p:spPr>
          <a:xfrm>
            <a:off x="594360" y="3063240"/>
            <a:ext cx="182880" cy="182880"/>
          </a:xfrm>
          <a:prstGeom prst="ellipse">
            <a:avLst/>
          </a:prstGeom>
          <a:solidFill>
            <a:srgbClr val="B8660B"/>
          </a:solidFill>
          <a:ln w="12700">
            <a:solidFill>
              <a:srgbClr val="B8660B"/>
            </a:solidFill>
            <a:prstDash val="solid"/>
          </a:ln>
        </p:spPr>
      </p:sp>
      <p:sp>
        <p:nvSpPr>
          <p:cNvPr id="22" name="Text 20"/>
          <p:cNvSpPr txBox="1"/>
          <p:nvPr/>
        </p:nvSpPr>
        <p:spPr>
          <a:xfrm>
            <a:off x="868680" y="30175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Spoofing</a:t>
            </a:r>
            <a:endParaRPr lang="en-US" sz="1400" dirty="0"/>
          </a:p>
        </p:txBody>
      </p:sp>
      <p:sp>
        <p:nvSpPr>
          <p:cNvPr id="23" name="Text 21"/>
          <p:cNvSpPr txBox="1"/>
          <p:nvPr/>
        </p:nvSpPr>
        <p:spPr>
          <a:xfrm>
            <a:off x="594360" y="34015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ARP and DNS spoofing: man-in-the-middle on the LAN</a:t>
            </a:r>
            <a:endParaRPr lang="en-US" sz="1150" dirty="0"/>
          </a:p>
        </p:txBody>
      </p:sp>
      <p:sp>
        <p:nvSpPr>
          <p:cNvPr id="24" name="Shape 22"/>
          <p:cNvSpPr/>
          <p:nvPr/>
        </p:nvSpPr>
        <p:spPr>
          <a:xfrm>
            <a:off x="2542032" y="2926080"/>
            <a:ext cx="1938528" cy="1417320"/>
          </a:xfrm>
          <a:prstGeom prst="roundRect">
            <a:avLst>
              <a:gd name="adj" fmla="val 5161"/>
            </a:avLst>
          </a:prstGeom>
          <a:solidFill>
            <a:srgbClr val="F1F5F8"/>
          </a:solidFill>
          <a:ln w="12700">
            <a:solidFill>
              <a:srgbClr val="F1F5F8"/>
            </a:solidFill>
            <a:prstDash val="solid"/>
          </a:ln>
        </p:spPr>
      </p:sp>
      <p:sp>
        <p:nvSpPr>
          <p:cNvPr id="25" name="Shape 23"/>
          <p:cNvSpPr/>
          <p:nvPr/>
        </p:nvSpPr>
        <p:spPr>
          <a:xfrm>
            <a:off x="2679192" y="3063240"/>
            <a:ext cx="182880" cy="182880"/>
          </a:xfrm>
          <a:prstGeom prst="ellipse">
            <a:avLst/>
          </a:prstGeom>
          <a:solidFill>
            <a:srgbClr val="B8660B"/>
          </a:solidFill>
          <a:ln w="12700">
            <a:solidFill>
              <a:srgbClr val="B8660B"/>
            </a:solidFill>
            <a:prstDash val="solid"/>
          </a:ln>
        </p:spPr>
      </p:sp>
      <p:sp>
        <p:nvSpPr>
          <p:cNvPr id="26" name="Text 24"/>
          <p:cNvSpPr txBox="1"/>
          <p:nvPr/>
        </p:nvSpPr>
        <p:spPr>
          <a:xfrm>
            <a:off x="2953512" y="30175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Web</a:t>
            </a:r>
            <a:endParaRPr lang="en-US" sz="1400" dirty="0"/>
          </a:p>
        </p:txBody>
      </p:sp>
      <p:sp>
        <p:nvSpPr>
          <p:cNvPr id="27" name="Text 25"/>
          <p:cNvSpPr txBox="1"/>
          <p:nvPr/>
        </p:nvSpPr>
        <p:spPr>
          <a:xfrm>
            <a:off x="2679192" y="34015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SQL injection, XSS, command injection, backdoor, upload attacks</a:t>
            </a:r>
            <a:endParaRPr lang="en-US" sz="1150" dirty="0"/>
          </a:p>
        </p:txBody>
      </p:sp>
      <p:sp>
        <p:nvSpPr>
          <p:cNvPr id="28" name="Shape 26"/>
          <p:cNvSpPr/>
          <p:nvPr/>
        </p:nvSpPr>
        <p:spPr>
          <a:xfrm>
            <a:off x="4626864" y="2926080"/>
            <a:ext cx="1938528" cy="1417320"/>
          </a:xfrm>
          <a:prstGeom prst="roundRect">
            <a:avLst>
              <a:gd name="adj" fmla="val 5161"/>
            </a:avLst>
          </a:prstGeom>
          <a:solidFill>
            <a:srgbClr val="F1F5F8"/>
          </a:solidFill>
          <a:ln w="12700">
            <a:solidFill>
              <a:srgbClr val="F1F5F8"/>
            </a:solidFill>
            <a:prstDash val="solid"/>
          </a:ln>
        </p:spPr>
      </p:sp>
      <p:sp>
        <p:nvSpPr>
          <p:cNvPr id="29" name="Shape 27"/>
          <p:cNvSpPr/>
          <p:nvPr/>
        </p:nvSpPr>
        <p:spPr>
          <a:xfrm>
            <a:off x="4764024" y="3063240"/>
            <a:ext cx="182880" cy="182880"/>
          </a:xfrm>
          <a:prstGeom prst="ellipse">
            <a:avLst/>
          </a:prstGeom>
          <a:solidFill>
            <a:srgbClr val="B8660B"/>
          </a:solidFill>
          <a:ln w="12700">
            <a:solidFill>
              <a:srgbClr val="B8660B"/>
            </a:solidFill>
            <a:prstDash val="solid"/>
          </a:ln>
        </p:spPr>
      </p:sp>
      <p:sp>
        <p:nvSpPr>
          <p:cNvPr id="30" name="Text 28"/>
          <p:cNvSpPr txBox="1"/>
          <p:nvPr/>
        </p:nvSpPr>
        <p:spPr>
          <a:xfrm>
            <a:off x="5038344" y="30175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Brute force</a:t>
            </a:r>
            <a:endParaRPr lang="en-US" sz="1400" dirty="0"/>
          </a:p>
        </p:txBody>
      </p:sp>
      <p:sp>
        <p:nvSpPr>
          <p:cNvPr id="31" name="Text 29"/>
          <p:cNvSpPr txBox="1"/>
          <p:nvPr/>
        </p:nvSpPr>
        <p:spPr>
          <a:xfrm>
            <a:off x="4764024" y="34015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Dictionary attack on device or service passwords</a:t>
            </a:r>
            <a:endParaRPr lang="en-US" sz="1150" dirty="0"/>
          </a:p>
        </p:txBody>
      </p:sp>
      <p:sp>
        <p:nvSpPr>
          <p:cNvPr id="32" name="Shape 30"/>
          <p:cNvSpPr/>
          <p:nvPr/>
        </p:nvSpPr>
        <p:spPr>
          <a:xfrm>
            <a:off x="6711696" y="2926080"/>
            <a:ext cx="1938528" cy="1417320"/>
          </a:xfrm>
          <a:prstGeom prst="roundRect">
            <a:avLst>
              <a:gd name="adj" fmla="val 5161"/>
            </a:avLst>
          </a:prstGeom>
          <a:solidFill>
            <a:srgbClr val="F1F5F8"/>
          </a:solidFill>
          <a:ln w="12700">
            <a:solidFill>
              <a:srgbClr val="F1F5F8"/>
            </a:solidFill>
            <a:prstDash val="solid"/>
          </a:ln>
        </p:spPr>
      </p:sp>
      <p:sp>
        <p:nvSpPr>
          <p:cNvPr id="33" name="Shape 31"/>
          <p:cNvSpPr/>
          <p:nvPr/>
        </p:nvSpPr>
        <p:spPr>
          <a:xfrm>
            <a:off x="6848856" y="3063240"/>
            <a:ext cx="182880" cy="182880"/>
          </a:xfrm>
          <a:prstGeom prst="ellipse">
            <a:avLst/>
          </a:prstGeom>
          <a:solidFill>
            <a:srgbClr val="0E8C80"/>
          </a:solidFill>
          <a:ln w="12700">
            <a:solidFill>
              <a:srgbClr val="0E8C80"/>
            </a:solidFill>
            <a:prstDash val="solid"/>
          </a:ln>
        </p:spPr>
      </p:sp>
      <p:sp>
        <p:nvSpPr>
          <p:cNvPr id="34" name="Text 32"/>
          <p:cNvSpPr txBox="1"/>
          <p:nvPr/>
        </p:nvSpPr>
        <p:spPr>
          <a:xfrm>
            <a:off x="7123176" y="3017520"/>
            <a:ext cx="14630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Benign</a:t>
            </a:r>
            <a:endParaRPr lang="en-US" sz="1400" dirty="0"/>
          </a:p>
        </p:txBody>
      </p:sp>
      <p:sp>
        <p:nvSpPr>
          <p:cNvPr id="35" name="Text 33"/>
          <p:cNvSpPr txBox="1"/>
          <p:nvPr/>
        </p:nvSpPr>
        <p:spPr>
          <a:xfrm>
            <a:off x="6848856" y="3401568"/>
            <a:ext cx="1691640" cy="8686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Normal device traffic: what the IDS must NOT flag</a:t>
            </a:r>
            <a:endParaRPr lang="en-US" sz="1150" dirty="0"/>
          </a:p>
        </p:txBody>
      </p:sp>
      <p:sp>
        <p:nvSpPr>
          <p:cNvPr id="36" name="Text 34"/>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Red = high-volume floods.  Amber = quiet attacks that look like normal traffic.</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Our idea: an IDS at the IoT gateway</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Every device's traffic passes through the gateway, so one detector protects them all</a:t>
            </a:r>
            <a:endParaRPr lang="en-US" sz="1300" dirty="0"/>
          </a:p>
        </p:txBody>
      </p:sp>
      <p:sp>
        <p:nvSpPr>
          <p:cNvPr id="4" name="Shape 2"/>
          <p:cNvSpPr/>
          <p:nvPr/>
        </p:nvSpPr>
        <p:spPr>
          <a:xfrm>
            <a:off x="457200" y="1417320"/>
            <a:ext cx="1554480" cy="640080"/>
          </a:xfrm>
          <a:prstGeom prst="roundRect">
            <a:avLst>
              <a:gd name="adj" fmla="val 11429"/>
            </a:avLst>
          </a:prstGeom>
          <a:solidFill>
            <a:srgbClr val="F1F5F8"/>
          </a:solidFill>
          <a:ln w="12700">
            <a:solidFill>
              <a:srgbClr val="F1F5F8"/>
            </a:solidFill>
            <a:prstDash val="solid"/>
          </a:ln>
        </p:spPr>
      </p:sp>
      <p:sp>
        <p:nvSpPr>
          <p:cNvPr id="5" name="Text 3"/>
          <p:cNvSpPr txBox="1"/>
          <p:nvPr/>
        </p:nvSpPr>
        <p:spPr>
          <a:xfrm>
            <a:off x="457200" y="1417320"/>
            <a:ext cx="1554480" cy="6400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IP camera</a:t>
            </a:r>
            <a:endParaRPr lang="en-US" sz="1200" dirty="0"/>
          </a:p>
        </p:txBody>
      </p:sp>
      <p:sp>
        <p:nvSpPr>
          <p:cNvPr id="6" name="Shape 4"/>
          <p:cNvSpPr/>
          <p:nvPr/>
        </p:nvSpPr>
        <p:spPr>
          <a:xfrm>
            <a:off x="2011680" y="1737360"/>
            <a:ext cx="1005840" cy="411480"/>
          </a:xfrm>
          <a:prstGeom prst="line">
            <a:avLst/>
          </a:prstGeom>
          <a:noFill/>
          <a:ln w="25400">
            <a:solidFill>
              <a:srgbClr val="5B6472"/>
            </a:solidFill>
            <a:prstDash val="solid"/>
            <a:tailEnd type="triangle"/>
          </a:ln>
        </p:spPr>
      </p:sp>
      <p:sp>
        <p:nvSpPr>
          <p:cNvPr id="7" name="Shape 5"/>
          <p:cNvSpPr/>
          <p:nvPr/>
        </p:nvSpPr>
        <p:spPr>
          <a:xfrm>
            <a:off x="457200" y="2286000"/>
            <a:ext cx="1554480" cy="640080"/>
          </a:xfrm>
          <a:prstGeom prst="roundRect">
            <a:avLst>
              <a:gd name="adj" fmla="val 11429"/>
            </a:avLst>
          </a:prstGeom>
          <a:solidFill>
            <a:srgbClr val="F1F5F8"/>
          </a:solidFill>
          <a:ln w="12700">
            <a:solidFill>
              <a:srgbClr val="F1F5F8"/>
            </a:solidFill>
            <a:prstDash val="solid"/>
          </a:ln>
        </p:spPr>
      </p:sp>
      <p:sp>
        <p:nvSpPr>
          <p:cNvPr id="8" name="Text 6"/>
          <p:cNvSpPr txBox="1"/>
          <p:nvPr/>
        </p:nvSpPr>
        <p:spPr>
          <a:xfrm>
            <a:off x="457200" y="2286000"/>
            <a:ext cx="1554480" cy="6400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Smart plug</a:t>
            </a:r>
            <a:endParaRPr lang="en-US" sz="1200" dirty="0"/>
          </a:p>
        </p:txBody>
      </p:sp>
      <p:sp>
        <p:nvSpPr>
          <p:cNvPr id="9" name="Shape 7"/>
          <p:cNvSpPr/>
          <p:nvPr/>
        </p:nvSpPr>
        <p:spPr>
          <a:xfrm flipV="1">
            <a:off x="2011680" y="2286000"/>
            <a:ext cx="1005840" cy="320040"/>
          </a:xfrm>
          <a:prstGeom prst="line">
            <a:avLst/>
          </a:prstGeom>
          <a:noFill/>
          <a:ln w="25400">
            <a:solidFill>
              <a:srgbClr val="5B6472"/>
            </a:solidFill>
            <a:prstDash val="solid"/>
            <a:tailEnd type="triangle"/>
          </a:ln>
        </p:spPr>
      </p:sp>
      <p:sp>
        <p:nvSpPr>
          <p:cNvPr id="10" name="Shape 8"/>
          <p:cNvSpPr/>
          <p:nvPr/>
        </p:nvSpPr>
        <p:spPr>
          <a:xfrm>
            <a:off x="457200" y="3154680"/>
            <a:ext cx="1554480" cy="640080"/>
          </a:xfrm>
          <a:prstGeom prst="roundRect">
            <a:avLst>
              <a:gd name="adj" fmla="val 11429"/>
            </a:avLst>
          </a:prstGeom>
          <a:solidFill>
            <a:srgbClr val="F1F5F8"/>
          </a:solidFill>
          <a:ln w="12700">
            <a:solidFill>
              <a:srgbClr val="F1F5F8"/>
            </a:solidFill>
            <a:prstDash val="solid"/>
          </a:ln>
        </p:spPr>
      </p:sp>
      <p:sp>
        <p:nvSpPr>
          <p:cNvPr id="11" name="Text 9"/>
          <p:cNvSpPr txBox="1"/>
          <p:nvPr/>
        </p:nvSpPr>
        <p:spPr>
          <a:xfrm>
            <a:off x="457200" y="3154680"/>
            <a:ext cx="1554480" cy="6400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Sensor</a:t>
            </a:r>
            <a:endParaRPr lang="en-US" sz="1200" dirty="0"/>
          </a:p>
        </p:txBody>
      </p:sp>
      <p:sp>
        <p:nvSpPr>
          <p:cNvPr id="12" name="Shape 10"/>
          <p:cNvSpPr/>
          <p:nvPr/>
        </p:nvSpPr>
        <p:spPr>
          <a:xfrm flipV="1">
            <a:off x="2011680" y="2423160"/>
            <a:ext cx="1005840" cy="1051560"/>
          </a:xfrm>
          <a:prstGeom prst="line">
            <a:avLst/>
          </a:prstGeom>
          <a:noFill/>
          <a:ln w="25400">
            <a:solidFill>
              <a:srgbClr val="5B6472"/>
            </a:solidFill>
            <a:prstDash val="solid"/>
            <a:tailEnd type="triangle"/>
          </a:ln>
        </p:spPr>
      </p:sp>
      <p:sp>
        <p:nvSpPr>
          <p:cNvPr id="13" name="Shape 11"/>
          <p:cNvSpPr/>
          <p:nvPr/>
        </p:nvSpPr>
        <p:spPr>
          <a:xfrm>
            <a:off x="3017520" y="1417320"/>
            <a:ext cx="2743200" cy="2423160"/>
          </a:xfrm>
          <a:prstGeom prst="roundRect">
            <a:avLst>
              <a:gd name="adj" fmla="val 3019"/>
            </a:avLst>
          </a:prstGeom>
          <a:solidFill>
            <a:srgbClr val="0F1B2D"/>
          </a:solidFill>
          <a:ln w="12700">
            <a:solidFill>
              <a:srgbClr val="0F1B2D"/>
            </a:solidFill>
            <a:prstDash val="solid"/>
          </a:ln>
        </p:spPr>
      </p:sp>
      <p:sp>
        <p:nvSpPr>
          <p:cNvPr id="14" name="Text 12"/>
          <p:cNvSpPr txBox="1"/>
          <p:nvPr/>
        </p:nvSpPr>
        <p:spPr>
          <a:xfrm>
            <a:off x="3017520" y="1417320"/>
            <a:ext cx="2743200" cy="2423160"/>
          </a:xfrm>
          <a:prstGeom prst="rect">
            <a:avLst/>
          </a:prstGeom>
          <a:noFill/>
          <a:ln/>
        </p:spPr>
        <p:txBody>
          <a:bodyPr wrap="square" lIns="38100" tIns="38100" rIns="38100" bIns="38100" rtlCol="0" anchor="ctr"/>
          <a:lstStyle/>
          <a:p>
            <a:pPr algn="ctr" indent="0" marL="0">
              <a:buNone/>
            </a:pPr>
            <a:endParaRPr lang="en-US" sz="1200" dirty="0"/>
          </a:p>
        </p:txBody>
      </p:sp>
      <p:sp>
        <p:nvSpPr>
          <p:cNvPr id="15" name="Text 13"/>
          <p:cNvSpPr txBox="1"/>
          <p:nvPr/>
        </p:nvSpPr>
        <p:spPr>
          <a:xfrm>
            <a:off x="3017520" y="1508760"/>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IoT gateway</a:t>
            </a:r>
            <a:endParaRPr lang="en-US" sz="1500" dirty="0"/>
          </a:p>
        </p:txBody>
      </p:sp>
      <p:sp>
        <p:nvSpPr>
          <p:cNvPr id="16" name="Shape 14"/>
          <p:cNvSpPr/>
          <p:nvPr/>
        </p:nvSpPr>
        <p:spPr>
          <a:xfrm>
            <a:off x="3246120" y="1965960"/>
            <a:ext cx="2286000" cy="457200"/>
          </a:xfrm>
          <a:prstGeom prst="roundRect">
            <a:avLst>
              <a:gd name="adj" fmla="val 16000"/>
            </a:avLst>
          </a:prstGeom>
          <a:solidFill>
            <a:srgbClr val="1E2F47"/>
          </a:solidFill>
          <a:ln w="12700">
            <a:solidFill>
              <a:srgbClr val="1E2F47"/>
            </a:solidFill>
            <a:prstDash val="solid"/>
          </a:ln>
        </p:spPr>
      </p:sp>
      <p:sp>
        <p:nvSpPr>
          <p:cNvPr id="17" name="Text 15"/>
          <p:cNvSpPr txBox="1"/>
          <p:nvPr/>
        </p:nvSpPr>
        <p:spPr>
          <a:xfrm>
            <a:off x="3246120" y="1965960"/>
            <a:ext cx="2286000" cy="457200"/>
          </a:xfrm>
          <a:prstGeom prst="rect">
            <a:avLst/>
          </a:prstGeom>
          <a:noFill/>
          <a:ln/>
        </p:spPr>
        <p:txBody>
          <a:bodyPr wrap="square" lIns="38100" tIns="38100" rIns="38100" bIns="381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  Group packets into flows</a:t>
            </a:r>
            <a:endParaRPr lang="en-US" sz="1100" dirty="0"/>
          </a:p>
        </p:txBody>
      </p:sp>
      <p:sp>
        <p:nvSpPr>
          <p:cNvPr id="18" name="Shape 16"/>
          <p:cNvSpPr/>
          <p:nvPr/>
        </p:nvSpPr>
        <p:spPr>
          <a:xfrm>
            <a:off x="3246120" y="2514600"/>
            <a:ext cx="2286000" cy="457200"/>
          </a:xfrm>
          <a:prstGeom prst="roundRect">
            <a:avLst>
              <a:gd name="adj" fmla="val 16000"/>
            </a:avLst>
          </a:prstGeom>
          <a:solidFill>
            <a:srgbClr val="1E2F47"/>
          </a:solidFill>
          <a:ln w="12700">
            <a:solidFill>
              <a:srgbClr val="1E2F47"/>
            </a:solidFill>
            <a:prstDash val="solid"/>
          </a:ln>
        </p:spPr>
      </p:sp>
      <p:sp>
        <p:nvSpPr>
          <p:cNvPr id="19" name="Text 17"/>
          <p:cNvSpPr txBox="1"/>
          <p:nvPr/>
        </p:nvSpPr>
        <p:spPr>
          <a:xfrm>
            <a:off x="3246120" y="2514600"/>
            <a:ext cx="2286000" cy="457200"/>
          </a:xfrm>
          <a:prstGeom prst="rect">
            <a:avLst/>
          </a:prstGeom>
          <a:noFill/>
          <a:ln/>
        </p:spPr>
        <p:txBody>
          <a:bodyPr wrap="square" lIns="38100" tIns="38100" rIns="38100" bIns="381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2  Compute flow features</a:t>
            </a:r>
            <a:endParaRPr lang="en-US" sz="1100" dirty="0"/>
          </a:p>
        </p:txBody>
      </p:sp>
      <p:sp>
        <p:nvSpPr>
          <p:cNvPr id="20" name="Shape 18"/>
          <p:cNvSpPr/>
          <p:nvPr/>
        </p:nvSpPr>
        <p:spPr>
          <a:xfrm>
            <a:off x="3246120" y="3063240"/>
            <a:ext cx="2286000" cy="594360"/>
          </a:xfrm>
          <a:prstGeom prst="roundRect">
            <a:avLst>
              <a:gd name="adj" fmla="val 12308"/>
            </a:avLst>
          </a:prstGeom>
          <a:solidFill>
            <a:srgbClr val="0E8C80"/>
          </a:solidFill>
          <a:ln w="12700">
            <a:solidFill>
              <a:srgbClr val="0E8C80"/>
            </a:solidFill>
            <a:prstDash val="solid"/>
          </a:ln>
        </p:spPr>
      </p:sp>
      <p:sp>
        <p:nvSpPr>
          <p:cNvPr id="21" name="Text 19"/>
          <p:cNvSpPr txBox="1"/>
          <p:nvPr/>
        </p:nvSpPr>
        <p:spPr>
          <a:xfrm>
            <a:off x="3246120" y="3063240"/>
            <a:ext cx="2286000" cy="5943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Lightweight ML model: benign or attack?</a:t>
            </a:r>
            <a:endParaRPr lang="en-US" sz="1100" dirty="0"/>
          </a:p>
        </p:txBody>
      </p:sp>
      <p:sp>
        <p:nvSpPr>
          <p:cNvPr id="22" name="Shape 20"/>
          <p:cNvSpPr/>
          <p:nvPr/>
        </p:nvSpPr>
        <p:spPr>
          <a:xfrm>
            <a:off x="5760720" y="2286000"/>
            <a:ext cx="822960" cy="0"/>
          </a:xfrm>
          <a:prstGeom prst="line">
            <a:avLst/>
          </a:prstGeom>
          <a:noFill/>
          <a:ln w="25400">
            <a:solidFill>
              <a:srgbClr val="5B6472"/>
            </a:solidFill>
            <a:prstDash val="solid"/>
            <a:tailEnd type="triangle"/>
          </a:ln>
        </p:spPr>
      </p:sp>
      <p:sp>
        <p:nvSpPr>
          <p:cNvPr id="23" name="Shape 21"/>
          <p:cNvSpPr/>
          <p:nvPr/>
        </p:nvSpPr>
        <p:spPr>
          <a:xfrm>
            <a:off x="6583680" y="1783080"/>
            <a:ext cx="2103120" cy="1005840"/>
          </a:xfrm>
          <a:prstGeom prst="roundRect">
            <a:avLst>
              <a:gd name="adj" fmla="val 7273"/>
            </a:avLst>
          </a:prstGeom>
          <a:solidFill>
            <a:srgbClr val="F1F5F8"/>
          </a:solidFill>
          <a:ln w="12700">
            <a:solidFill>
              <a:srgbClr val="F1F5F8"/>
            </a:solidFill>
            <a:prstDash val="solid"/>
          </a:ln>
        </p:spPr>
      </p:sp>
      <p:sp>
        <p:nvSpPr>
          <p:cNvPr id="24" name="Text 22"/>
          <p:cNvSpPr txBox="1"/>
          <p:nvPr/>
        </p:nvSpPr>
        <p:spPr>
          <a:xfrm>
            <a:off x="6583680" y="1783080"/>
            <a:ext cx="2103120" cy="1005840"/>
          </a:xfrm>
          <a:prstGeom prst="rect">
            <a:avLst/>
          </a:prstGeom>
          <a:noFill/>
          <a:ln/>
        </p:spPr>
        <p:txBody>
          <a:bodyPr wrap="square" lIns="38100" tIns="38100" rIns="38100" bIns="381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Internet / cloud</a:t>
            </a:r>
            <a:endParaRPr lang="en-US" sz="1300" dirty="0"/>
          </a:p>
        </p:txBody>
      </p:sp>
      <p:sp>
        <p:nvSpPr>
          <p:cNvPr id="25" name="Shape 23"/>
          <p:cNvSpPr/>
          <p:nvPr/>
        </p:nvSpPr>
        <p:spPr>
          <a:xfrm>
            <a:off x="4389120" y="3840480"/>
            <a:ext cx="0" cy="411480"/>
          </a:xfrm>
          <a:prstGeom prst="line">
            <a:avLst/>
          </a:prstGeom>
          <a:noFill/>
          <a:ln w="25400">
            <a:solidFill>
              <a:srgbClr val="C0392B"/>
            </a:solidFill>
            <a:prstDash val="solid"/>
            <a:tailEnd type="triangle"/>
          </a:ln>
        </p:spPr>
      </p:sp>
      <p:sp>
        <p:nvSpPr>
          <p:cNvPr id="26" name="Shape 24"/>
          <p:cNvSpPr/>
          <p:nvPr/>
        </p:nvSpPr>
        <p:spPr>
          <a:xfrm>
            <a:off x="3017520" y="4251960"/>
            <a:ext cx="2743200" cy="457200"/>
          </a:xfrm>
          <a:prstGeom prst="roundRect">
            <a:avLst>
              <a:gd name="adj" fmla="val 16000"/>
            </a:avLst>
          </a:prstGeom>
          <a:solidFill>
            <a:srgbClr val="FBE9E7"/>
          </a:solidFill>
          <a:ln w="12700">
            <a:solidFill>
              <a:srgbClr val="FBE9E7"/>
            </a:solidFill>
            <a:prstDash val="solid"/>
          </a:ln>
        </p:spPr>
      </p:sp>
      <p:sp>
        <p:nvSpPr>
          <p:cNvPr id="27" name="Text 25"/>
          <p:cNvSpPr txBox="1"/>
          <p:nvPr/>
        </p:nvSpPr>
        <p:spPr>
          <a:xfrm>
            <a:off x="3017520" y="4251960"/>
            <a:ext cx="2743200" cy="457200"/>
          </a:xfrm>
          <a:prstGeom prst="rect">
            <a:avLst/>
          </a:prstGeom>
          <a:noFill/>
          <a:ln/>
        </p:spPr>
        <p:txBody>
          <a:bodyPr wrap="square" lIns="38100" tIns="38100" rIns="38100" bIns="3810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ALERT / block the device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Data: CICIoT2023, captured from a real IoT lab</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Canadian Institute for Cybersecurity (UNB): attacks launched against real devices</a:t>
            </a:r>
            <a:endParaRPr lang="en-US" sz="1300" dirty="0"/>
          </a:p>
        </p:txBody>
      </p:sp>
      <p:sp>
        <p:nvSpPr>
          <p:cNvPr id="4" name="Text 2"/>
          <p:cNvSpPr txBox="1"/>
          <p:nvPr/>
        </p:nvSpPr>
        <p:spPr>
          <a:xfrm>
            <a:off x="45720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105</a:t>
            </a:r>
            <a:endParaRPr lang="en-US" sz="3000" dirty="0"/>
          </a:p>
        </p:txBody>
      </p:sp>
      <p:sp>
        <p:nvSpPr>
          <p:cNvPr id="5" name="Text 3"/>
          <p:cNvSpPr txBox="1"/>
          <p:nvPr/>
        </p:nvSpPr>
        <p:spPr>
          <a:xfrm>
            <a:off x="45720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real IoT devices in the testbed</a:t>
            </a:r>
            <a:endParaRPr lang="en-US" sz="1150" dirty="0"/>
          </a:p>
        </p:txBody>
      </p:sp>
      <p:sp>
        <p:nvSpPr>
          <p:cNvPr id="6" name="Text 4"/>
          <p:cNvSpPr txBox="1"/>
          <p:nvPr/>
        </p:nvSpPr>
        <p:spPr>
          <a:xfrm>
            <a:off x="256032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33</a:t>
            </a:r>
            <a:endParaRPr lang="en-US" sz="3000" dirty="0"/>
          </a:p>
        </p:txBody>
      </p:sp>
      <p:sp>
        <p:nvSpPr>
          <p:cNvPr id="7" name="Text 5"/>
          <p:cNvSpPr txBox="1"/>
          <p:nvPr/>
        </p:nvSpPr>
        <p:spPr>
          <a:xfrm>
            <a:off x="256032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attack types, 7 families</a:t>
            </a:r>
            <a:endParaRPr lang="en-US" sz="1150" dirty="0"/>
          </a:p>
        </p:txBody>
      </p:sp>
      <p:sp>
        <p:nvSpPr>
          <p:cNvPr id="8" name="Text 6"/>
          <p:cNvSpPr txBox="1"/>
          <p:nvPr/>
        </p:nvSpPr>
        <p:spPr>
          <a:xfrm>
            <a:off x="466344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7.8M</a:t>
            </a:r>
            <a:endParaRPr lang="en-US" sz="3000" dirty="0"/>
          </a:p>
        </p:txBody>
      </p:sp>
      <p:sp>
        <p:nvSpPr>
          <p:cNvPr id="9" name="Text 7"/>
          <p:cNvSpPr txBox="1"/>
          <p:nvPr/>
        </p:nvSpPr>
        <p:spPr>
          <a:xfrm>
            <a:off x="466344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network flows in the files we used</a:t>
            </a:r>
            <a:endParaRPr lang="en-US" sz="1150" dirty="0"/>
          </a:p>
        </p:txBody>
      </p:sp>
      <p:sp>
        <p:nvSpPr>
          <p:cNvPr id="10" name="Text 8"/>
          <p:cNvSpPr txBox="1"/>
          <p:nvPr/>
        </p:nvSpPr>
        <p:spPr>
          <a:xfrm>
            <a:off x="6766560" y="1234440"/>
            <a:ext cx="1920240" cy="548640"/>
          </a:xfrm>
          <a:prstGeom prst="rect">
            <a:avLst/>
          </a:prstGeom>
          <a:noFill/>
          <a:ln/>
        </p:spPr>
        <p:txBody>
          <a:bodyPr wrap="square" lIns="0" tIns="0" rIns="0" bIns="0" rtlCol="0" anchor="ctr"/>
          <a:lstStyle/>
          <a:p>
            <a:pPr indent="0" marL="0">
              <a:buNone/>
            </a:pPr>
            <a:r>
              <a:rPr lang="en-US" sz="3000" b="1" dirty="0">
                <a:solidFill>
                  <a:srgbClr val="C0392B"/>
                </a:solidFill>
                <a:latin typeface="Arial" pitchFamily="34" charset="0"/>
                <a:ea typeface="Arial" pitchFamily="34" charset="-122"/>
                <a:cs typeface="Arial" pitchFamily="34" charset="-120"/>
              </a:rPr>
              <a:t>97.3%</a:t>
            </a:r>
            <a:endParaRPr lang="en-US" sz="3000" dirty="0"/>
          </a:p>
        </p:txBody>
      </p:sp>
      <p:sp>
        <p:nvSpPr>
          <p:cNvPr id="11" name="Text 9"/>
          <p:cNvSpPr txBox="1"/>
          <p:nvPr/>
        </p:nvSpPr>
        <p:spPr>
          <a:xfrm>
            <a:off x="676656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of the flows are attacks</a:t>
            </a:r>
            <a:endParaRPr lang="en-US" sz="1150" dirty="0"/>
          </a:p>
        </p:txBody>
      </p:sp>
      <p:pic>
        <p:nvPicPr>
          <p:cNvPr id="12" name="Image 0" descr="C:\Users\ayush\Desktop\Coding\IDS\iot_ids_cnn_lstm\outputs\figures\01_class_distribution.png">    </p:cNvPr>
          <p:cNvPicPr>
            <a:picLocks noChangeAspect="1"/>
          </p:cNvPicPr>
          <p:nvPr/>
        </p:nvPicPr>
        <p:blipFill>
          <a:blip r:embed="rId1"/>
          <a:stretch>
            <a:fillRect/>
          </a:stretch>
        </p:blipFill>
        <p:spPr>
          <a:xfrm>
            <a:off x="457200" y="2331720"/>
            <a:ext cx="8229600" cy="2314286"/>
          </a:xfrm>
          <a:prstGeom prst="rect">
            <a:avLst/>
          </a:prstGeom>
        </p:spPr>
      </p:pic>
      <p:sp>
        <p:nvSpPr>
          <p:cNvPr id="13" name="Text 10"/>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Fig 1 - benign vs malicious counts: full data, our sample, and the training split before/after class weighting.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From raw traffic to a decision</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 detector sees flows, not individual packets</a:t>
            </a:r>
            <a:endParaRPr lang="en-US" sz="1300" dirty="0"/>
          </a:p>
        </p:txBody>
      </p:sp>
      <p:sp>
        <p:nvSpPr>
          <p:cNvPr id="4" name="Shape 2"/>
          <p:cNvSpPr/>
          <p:nvPr/>
        </p:nvSpPr>
        <p:spPr>
          <a:xfrm>
            <a:off x="457200" y="1325880"/>
            <a:ext cx="1463040" cy="1051560"/>
          </a:xfrm>
          <a:prstGeom prst="roundRect">
            <a:avLst>
              <a:gd name="adj" fmla="val 6957"/>
            </a:avLst>
          </a:prstGeom>
          <a:solidFill>
            <a:srgbClr val="F1F5F8"/>
          </a:solidFill>
          <a:ln w="12700">
            <a:solidFill>
              <a:srgbClr val="F1F5F8"/>
            </a:solidFill>
            <a:prstDash val="solid"/>
          </a:ln>
        </p:spPr>
      </p:sp>
      <p:sp>
        <p:nvSpPr>
          <p:cNvPr id="5" name="Text 3"/>
          <p:cNvSpPr txBox="1"/>
          <p:nvPr/>
        </p:nvSpPr>
        <p:spPr>
          <a:xfrm>
            <a:off x="457200" y="1389888"/>
            <a:ext cx="1463040" cy="36576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Packets</a:t>
            </a:r>
            <a:endParaRPr lang="en-US" sz="1400" dirty="0"/>
          </a:p>
        </p:txBody>
      </p:sp>
      <p:sp>
        <p:nvSpPr>
          <p:cNvPr id="6" name="Text 4"/>
          <p:cNvSpPr txBox="1"/>
          <p:nvPr/>
        </p:nvSpPr>
        <p:spPr>
          <a:xfrm>
            <a:off x="457200" y="1783080"/>
            <a:ext cx="1463040" cy="5486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raw network</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traffic</a:t>
            </a:r>
            <a:endParaRPr lang="en-US" sz="1100" dirty="0"/>
          </a:p>
        </p:txBody>
      </p:sp>
      <p:sp>
        <p:nvSpPr>
          <p:cNvPr id="7" name="Text 5"/>
          <p:cNvSpPr txBox="1"/>
          <p:nvPr/>
        </p:nvSpPr>
        <p:spPr>
          <a:xfrm>
            <a:off x="1920240" y="164592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8" name="Shape 6"/>
          <p:cNvSpPr/>
          <p:nvPr/>
        </p:nvSpPr>
        <p:spPr>
          <a:xfrm>
            <a:off x="2148840" y="1325880"/>
            <a:ext cx="1463040" cy="1051560"/>
          </a:xfrm>
          <a:prstGeom prst="roundRect">
            <a:avLst>
              <a:gd name="adj" fmla="val 6957"/>
            </a:avLst>
          </a:prstGeom>
          <a:solidFill>
            <a:srgbClr val="F1F5F8"/>
          </a:solidFill>
          <a:ln w="12700">
            <a:solidFill>
              <a:srgbClr val="F1F5F8"/>
            </a:solidFill>
            <a:prstDash val="solid"/>
          </a:ln>
        </p:spPr>
      </p:sp>
      <p:sp>
        <p:nvSpPr>
          <p:cNvPr id="9" name="Text 7"/>
          <p:cNvSpPr txBox="1"/>
          <p:nvPr/>
        </p:nvSpPr>
        <p:spPr>
          <a:xfrm>
            <a:off x="2148840" y="1389888"/>
            <a:ext cx="1463040" cy="36576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Flows</a:t>
            </a:r>
            <a:endParaRPr lang="en-US" sz="1400" dirty="0"/>
          </a:p>
        </p:txBody>
      </p:sp>
      <p:sp>
        <p:nvSpPr>
          <p:cNvPr id="10" name="Text 8"/>
          <p:cNvSpPr txBox="1"/>
          <p:nvPr/>
        </p:nvSpPr>
        <p:spPr>
          <a:xfrm>
            <a:off x="2148840" y="1783080"/>
            <a:ext cx="1463040" cy="5486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one connection =</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one flow</a:t>
            </a:r>
            <a:endParaRPr lang="en-US" sz="1100" dirty="0"/>
          </a:p>
        </p:txBody>
      </p:sp>
      <p:sp>
        <p:nvSpPr>
          <p:cNvPr id="11" name="Text 9"/>
          <p:cNvSpPr txBox="1"/>
          <p:nvPr/>
        </p:nvSpPr>
        <p:spPr>
          <a:xfrm>
            <a:off x="3611880" y="164592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12" name="Shape 10"/>
          <p:cNvSpPr/>
          <p:nvPr/>
        </p:nvSpPr>
        <p:spPr>
          <a:xfrm>
            <a:off x="3840480" y="1325880"/>
            <a:ext cx="1463040" cy="1051560"/>
          </a:xfrm>
          <a:prstGeom prst="roundRect">
            <a:avLst>
              <a:gd name="adj" fmla="val 6957"/>
            </a:avLst>
          </a:prstGeom>
          <a:solidFill>
            <a:srgbClr val="F1F5F8"/>
          </a:solidFill>
          <a:ln w="12700">
            <a:solidFill>
              <a:srgbClr val="F1F5F8"/>
            </a:solidFill>
            <a:prstDash val="solid"/>
          </a:ln>
        </p:spPr>
      </p:sp>
      <p:sp>
        <p:nvSpPr>
          <p:cNvPr id="13" name="Text 11"/>
          <p:cNvSpPr txBox="1"/>
          <p:nvPr/>
        </p:nvSpPr>
        <p:spPr>
          <a:xfrm>
            <a:off x="3840480" y="1389888"/>
            <a:ext cx="1463040" cy="36576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46 features</a:t>
            </a:r>
            <a:endParaRPr lang="en-US" sz="1400" dirty="0"/>
          </a:p>
        </p:txBody>
      </p:sp>
      <p:sp>
        <p:nvSpPr>
          <p:cNvPr id="14" name="Text 12"/>
          <p:cNvSpPr txBox="1"/>
          <p:nvPr/>
        </p:nvSpPr>
        <p:spPr>
          <a:xfrm>
            <a:off x="3840480" y="1783080"/>
            <a:ext cx="1463040" cy="5486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per flow</a:t>
            </a:r>
            <a:endParaRPr lang="en-US" sz="1100" dirty="0"/>
          </a:p>
        </p:txBody>
      </p:sp>
      <p:sp>
        <p:nvSpPr>
          <p:cNvPr id="15" name="Text 13"/>
          <p:cNvSpPr txBox="1"/>
          <p:nvPr/>
        </p:nvSpPr>
        <p:spPr>
          <a:xfrm>
            <a:off x="5303520" y="164592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16" name="Shape 14"/>
          <p:cNvSpPr/>
          <p:nvPr/>
        </p:nvSpPr>
        <p:spPr>
          <a:xfrm>
            <a:off x="5532120" y="1325880"/>
            <a:ext cx="1463040" cy="1051560"/>
          </a:xfrm>
          <a:prstGeom prst="roundRect">
            <a:avLst>
              <a:gd name="adj" fmla="val 6957"/>
            </a:avLst>
          </a:prstGeom>
          <a:solidFill>
            <a:srgbClr val="0F1B2D"/>
          </a:solidFill>
          <a:ln w="12700">
            <a:solidFill>
              <a:srgbClr val="0F1B2D"/>
            </a:solidFill>
            <a:prstDash val="solid"/>
          </a:ln>
        </p:spPr>
      </p:sp>
      <p:sp>
        <p:nvSpPr>
          <p:cNvPr id="17" name="Text 15"/>
          <p:cNvSpPr txBox="1"/>
          <p:nvPr/>
        </p:nvSpPr>
        <p:spPr>
          <a:xfrm>
            <a:off x="5532120" y="1389888"/>
            <a:ext cx="14630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Model</a:t>
            </a:r>
            <a:endParaRPr lang="en-US" sz="1400" dirty="0"/>
          </a:p>
        </p:txBody>
      </p:sp>
      <p:sp>
        <p:nvSpPr>
          <p:cNvPr id="18" name="Text 16"/>
          <p:cNvSpPr txBox="1"/>
          <p:nvPr/>
        </p:nvSpPr>
        <p:spPr>
          <a:xfrm>
            <a:off x="5532120" y="1783080"/>
            <a:ext cx="1463040"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benign or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malicious</a:t>
            </a:r>
            <a:endParaRPr lang="en-US" sz="1100" dirty="0"/>
          </a:p>
        </p:txBody>
      </p:sp>
      <p:sp>
        <p:nvSpPr>
          <p:cNvPr id="19" name="Text 17"/>
          <p:cNvSpPr txBox="1"/>
          <p:nvPr/>
        </p:nvSpPr>
        <p:spPr>
          <a:xfrm>
            <a:off x="6995160" y="164592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20" name="Shape 18"/>
          <p:cNvSpPr/>
          <p:nvPr/>
        </p:nvSpPr>
        <p:spPr>
          <a:xfrm>
            <a:off x="7223760" y="1325880"/>
            <a:ext cx="1463040" cy="1051560"/>
          </a:xfrm>
          <a:prstGeom prst="roundRect">
            <a:avLst>
              <a:gd name="adj" fmla="val 6957"/>
            </a:avLst>
          </a:prstGeom>
          <a:solidFill>
            <a:srgbClr val="FBE9E7"/>
          </a:solidFill>
          <a:ln w="12700">
            <a:solidFill>
              <a:srgbClr val="FBE9E7"/>
            </a:solidFill>
            <a:prstDash val="solid"/>
          </a:ln>
        </p:spPr>
      </p:sp>
      <p:sp>
        <p:nvSpPr>
          <p:cNvPr id="21" name="Text 19"/>
          <p:cNvSpPr txBox="1"/>
          <p:nvPr/>
        </p:nvSpPr>
        <p:spPr>
          <a:xfrm>
            <a:off x="7223760" y="1389888"/>
            <a:ext cx="1463040" cy="365760"/>
          </a:xfrm>
          <a:prstGeom prst="rect">
            <a:avLst/>
          </a:prstGeom>
          <a:noFill/>
          <a:ln/>
        </p:spPr>
        <p:txBody>
          <a:bodyPr wrap="square" lIns="0" tIns="0" rIns="0" bIns="0" rtlCol="0" anchor="ctr"/>
          <a:lstStyle/>
          <a:p>
            <a:pPr algn="ctr" indent="0" marL="0">
              <a:buNone/>
            </a:pPr>
            <a:r>
              <a:rPr lang="en-US" sz="1400" b="1" dirty="0">
                <a:solidFill>
                  <a:srgbClr val="C0392B"/>
                </a:solidFill>
                <a:latin typeface="Arial" pitchFamily="34" charset="0"/>
                <a:ea typeface="Arial" pitchFamily="34" charset="-122"/>
                <a:cs typeface="Arial" pitchFamily="34" charset="-120"/>
              </a:rPr>
              <a:t>Alert</a:t>
            </a:r>
            <a:endParaRPr lang="en-US" sz="1400" dirty="0"/>
          </a:p>
        </p:txBody>
      </p:sp>
      <p:sp>
        <p:nvSpPr>
          <p:cNvPr id="22" name="Text 20"/>
          <p:cNvSpPr txBox="1"/>
          <p:nvPr/>
        </p:nvSpPr>
        <p:spPr>
          <a:xfrm>
            <a:off x="7223760" y="1783080"/>
            <a:ext cx="1463040" cy="5486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if malicious</a:t>
            </a:r>
            <a:endParaRPr lang="en-US" sz="1100" dirty="0"/>
          </a:p>
        </p:txBody>
      </p:sp>
      <p:sp>
        <p:nvSpPr>
          <p:cNvPr id="23" name="Text 21"/>
          <p:cNvSpPr txBox="1"/>
          <p:nvPr/>
        </p:nvSpPr>
        <p:spPr>
          <a:xfrm>
            <a:off x="457200" y="2697480"/>
            <a:ext cx="402336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Example flow features</a:t>
            </a:r>
            <a:endParaRPr lang="en-US" sz="1400" dirty="0"/>
          </a:p>
        </p:txBody>
      </p:sp>
      <p:sp>
        <p:nvSpPr>
          <p:cNvPr id="24" name="Text 22"/>
          <p:cNvSpPr txBox="1"/>
          <p:nvPr/>
        </p:nvSpPr>
        <p:spPr>
          <a:xfrm>
            <a:off x="457200" y="3063240"/>
            <a:ext cx="4023360" cy="15544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7"/>
                </a:solidFill>
                <a:latin typeface="Calibri" pitchFamily="34" charset="0"/>
                <a:ea typeface="Calibri" pitchFamily="34" charset="-122"/>
                <a:cs typeface="Calibri" pitchFamily="34" charset="-120"/>
              </a:rPr>
              <a:t>Flow duration, packet rate</a:t>
            </a:r>
            <a:endParaRPr lang="en-US" sz="1250" dirty="0"/>
          </a:p>
          <a:p>
            <a:pPr marL="342900" indent="-342900">
              <a:spcAft>
                <a:spcPts val="500"/>
              </a:spcAft>
              <a:buSzPct val="100000"/>
              <a:buChar char="•"/>
            </a:pPr>
            <a:r>
              <a:rPr lang="en-US" sz="1250" dirty="0">
                <a:solidFill>
                  <a:srgbClr val="1F2937"/>
                </a:solidFill>
                <a:latin typeface="Calibri" pitchFamily="34" charset="0"/>
                <a:ea typeface="Calibri" pitchFamily="34" charset="-122"/>
                <a:cs typeface="Calibri" pitchFamily="34" charset="-120"/>
              </a:rPr>
              <a:t>TCP flag counts: SYN, ACK, FIN, RST</a:t>
            </a:r>
            <a:endParaRPr lang="en-US" sz="1250" dirty="0"/>
          </a:p>
          <a:p>
            <a:pPr marL="342900" indent="-342900">
              <a:spcAft>
                <a:spcPts val="500"/>
              </a:spcAft>
              <a:buSzPct val="100000"/>
              <a:buChar char="•"/>
            </a:pPr>
            <a:r>
              <a:rPr lang="en-US" sz="1250" dirty="0">
                <a:solidFill>
                  <a:srgbClr val="1F2937"/>
                </a:solidFill>
                <a:latin typeface="Calibri" pitchFamily="34" charset="0"/>
                <a:ea typeface="Calibri" pitchFamily="34" charset="-122"/>
                <a:cs typeface="Calibri" pitchFamily="34" charset="-120"/>
              </a:rPr>
              <a:t>Protocol: TCP, UDP, ICMP, DNS, HTTP, ARP</a:t>
            </a:r>
            <a:endParaRPr lang="en-US" sz="1250" dirty="0"/>
          </a:p>
          <a:p>
            <a:pPr marL="342900" indent="-342900">
              <a:spcAft>
                <a:spcPts val="500"/>
              </a:spcAft>
              <a:buSzPct val="100000"/>
              <a:buChar char="•"/>
            </a:pPr>
            <a:r>
              <a:rPr lang="en-US" sz="1250" dirty="0">
                <a:solidFill>
                  <a:srgbClr val="1F2937"/>
                </a:solidFill>
                <a:latin typeface="Calibri" pitchFamily="34" charset="0"/>
                <a:ea typeface="Calibri" pitchFamily="34" charset="-122"/>
                <a:cs typeface="Calibri" pitchFamily="34" charset="-120"/>
              </a:rPr>
              <a:t>Packet size and inter-arrival time statistics</a:t>
            </a:r>
            <a:endParaRPr lang="en-US" sz="1250" dirty="0"/>
          </a:p>
        </p:txBody>
      </p:sp>
      <p:sp>
        <p:nvSpPr>
          <p:cNvPr id="25" name="Shape 23"/>
          <p:cNvSpPr/>
          <p:nvPr/>
        </p:nvSpPr>
        <p:spPr>
          <a:xfrm>
            <a:off x="4846320" y="2697480"/>
            <a:ext cx="3840480" cy="1874520"/>
          </a:xfrm>
          <a:prstGeom prst="roundRect">
            <a:avLst>
              <a:gd name="adj" fmla="val 3902"/>
            </a:avLst>
          </a:prstGeom>
          <a:solidFill>
            <a:srgbClr val="F1F5F8"/>
          </a:solidFill>
          <a:ln w="12700">
            <a:solidFill>
              <a:srgbClr val="F1F5F8"/>
            </a:solidFill>
            <a:prstDash val="solid"/>
          </a:ln>
        </p:spPr>
      </p:sp>
      <p:sp>
        <p:nvSpPr>
          <p:cNvPr id="26" name="Text 24"/>
          <p:cNvSpPr txBox="1"/>
          <p:nvPr/>
        </p:nvSpPr>
        <p:spPr>
          <a:xfrm>
            <a:off x="5029200" y="2788920"/>
            <a:ext cx="3474720" cy="320040"/>
          </a:xfrm>
          <a:prstGeom prst="rect">
            <a:avLst/>
          </a:prstGeom>
          <a:noFill/>
          <a:ln/>
        </p:spPr>
        <p:txBody>
          <a:bodyPr wrap="square" lIns="0" tIns="0" rIns="0" bIns="0" rtlCol="0" anchor="ctr"/>
          <a:lstStyle/>
          <a:p>
            <a:pPr indent="0" marL="0">
              <a:buNone/>
            </a:pPr>
            <a:r>
              <a:rPr lang="en-US" sz="1400" b="1" dirty="0">
                <a:solidFill>
                  <a:srgbClr val="0E8C80"/>
                </a:solidFill>
                <a:latin typeface="Arial" pitchFamily="34" charset="0"/>
                <a:ea typeface="Arial" pitchFamily="34" charset="-122"/>
                <a:cs typeface="Arial" pitchFamily="34" charset="-120"/>
              </a:rPr>
              <a:t>Why this works for IoT</a:t>
            </a:r>
            <a:endParaRPr lang="en-US" sz="1400" dirty="0"/>
          </a:p>
        </p:txBody>
      </p:sp>
      <p:sp>
        <p:nvSpPr>
          <p:cNvPr id="27" name="Text 25"/>
          <p:cNvSpPr txBox="1"/>
          <p:nvPr/>
        </p:nvSpPr>
        <p:spPr>
          <a:xfrm>
            <a:off x="5029200" y="3108960"/>
            <a:ext cx="347472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flood has a huge packet rate and many SYN flags; a scan sends many tiny probes; IoT devices normally talk in simple, repetitive patterns. Attacks break those patterns, and the flow features capture that.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detector: a small neural network</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Design goal: accurate enough, and small enough for an edge device</a:t>
            </a:r>
            <a:endParaRPr lang="en-US" sz="1300" dirty="0"/>
          </a:p>
        </p:txBody>
      </p:sp>
      <p:sp>
        <p:nvSpPr>
          <p:cNvPr id="4" name="Shape 2"/>
          <p:cNvSpPr/>
          <p:nvPr/>
        </p:nvSpPr>
        <p:spPr>
          <a:xfrm>
            <a:off x="457200" y="1463040"/>
            <a:ext cx="1463040" cy="868680"/>
          </a:xfrm>
          <a:prstGeom prst="roundRect">
            <a:avLst>
              <a:gd name="adj" fmla="val 8421"/>
            </a:avLst>
          </a:prstGeom>
          <a:solidFill>
            <a:srgbClr val="F1F5F8"/>
          </a:solidFill>
          <a:ln w="12700">
            <a:solidFill>
              <a:srgbClr val="F1F5F8"/>
            </a:solidFill>
            <a:prstDash val="solid"/>
          </a:ln>
        </p:spPr>
      </p:sp>
      <p:sp>
        <p:nvSpPr>
          <p:cNvPr id="5" name="Text 3"/>
          <p:cNvSpPr txBox="1"/>
          <p:nvPr/>
        </p:nvSpPr>
        <p:spPr>
          <a:xfrm>
            <a:off x="457200" y="1463040"/>
            <a:ext cx="1463040" cy="8686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41 flow</a:t>
            </a:r>
            <a:endParaRPr lang="en-US" sz="1200" dirty="0"/>
          </a:p>
          <a:p>
            <a:pPr algn="ctr" indent="0" marL="0">
              <a:buNone/>
            </a:pPr>
            <a:r>
              <a:rPr lang="en-US" sz="1200" b="1" dirty="0">
                <a:solidFill>
                  <a:srgbClr val="1F2937"/>
                </a:solidFill>
                <a:latin typeface="Calibri" pitchFamily="34" charset="0"/>
                <a:ea typeface="Calibri" pitchFamily="34" charset="-122"/>
                <a:cs typeface="Calibri" pitchFamily="34" charset="-120"/>
              </a:rPr>
              <a:t>features</a:t>
            </a:r>
            <a:endParaRPr lang="en-US" sz="1200" dirty="0"/>
          </a:p>
        </p:txBody>
      </p:sp>
      <p:sp>
        <p:nvSpPr>
          <p:cNvPr id="6" name="Text 4"/>
          <p:cNvSpPr txBox="1"/>
          <p:nvPr/>
        </p:nvSpPr>
        <p:spPr>
          <a:xfrm>
            <a:off x="1920240" y="169164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7" name="Shape 5"/>
          <p:cNvSpPr/>
          <p:nvPr/>
        </p:nvSpPr>
        <p:spPr>
          <a:xfrm>
            <a:off x="2148840" y="1463040"/>
            <a:ext cx="1463040" cy="868680"/>
          </a:xfrm>
          <a:prstGeom prst="roundRect">
            <a:avLst>
              <a:gd name="adj" fmla="val 8421"/>
            </a:avLst>
          </a:prstGeom>
          <a:solidFill>
            <a:srgbClr val="F1F5F8"/>
          </a:solidFill>
          <a:ln w="12700">
            <a:solidFill>
              <a:srgbClr val="F1F5F8"/>
            </a:solidFill>
            <a:prstDash val="solid"/>
          </a:ln>
        </p:spPr>
      </p:sp>
      <p:sp>
        <p:nvSpPr>
          <p:cNvPr id="8" name="Text 6"/>
          <p:cNvSpPr txBox="1"/>
          <p:nvPr/>
        </p:nvSpPr>
        <p:spPr>
          <a:xfrm>
            <a:off x="2148840" y="1463040"/>
            <a:ext cx="1463040" cy="8686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CNN layers</a:t>
            </a:r>
            <a:endParaRPr lang="en-US" sz="1200" dirty="0"/>
          </a:p>
        </p:txBody>
      </p:sp>
      <p:sp>
        <p:nvSpPr>
          <p:cNvPr id="9" name="Text 7"/>
          <p:cNvSpPr txBox="1"/>
          <p:nvPr/>
        </p:nvSpPr>
        <p:spPr>
          <a:xfrm>
            <a:off x="3611880" y="169164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10" name="Shape 8"/>
          <p:cNvSpPr/>
          <p:nvPr/>
        </p:nvSpPr>
        <p:spPr>
          <a:xfrm>
            <a:off x="3840480" y="1463040"/>
            <a:ext cx="1463040" cy="868680"/>
          </a:xfrm>
          <a:prstGeom prst="roundRect">
            <a:avLst>
              <a:gd name="adj" fmla="val 8421"/>
            </a:avLst>
          </a:prstGeom>
          <a:solidFill>
            <a:srgbClr val="F1F5F8"/>
          </a:solidFill>
          <a:ln w="12700">
            <a:solidFill>
              <a:srgbClr val="F1F5F8"/>
            </a:solidFill>
            <a:prstDash val="solid"/>
          </a:ln>
        </p:spPr>
      </p:sp>
      <p:sp>
        <p:nvSpPr>
          <p:cNvPr id="11" name="Text 9"/>
          <p:cNvSpPr txBox="1"/>
          <p:nvPr/>
        </p:nvSpPr>
        <p:spPr>
          <a:xfrm>
            <a:off x="3840480" y="1463040"/>
            <a:ext cx="1463040" cy="8686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Dense layers</a:t>
            </a:r>
            <a:endParaRPr lang="en-US" sz="1200" dirty="0"/>
          </a:p>
        </p:txBody>
      </p:sp>
      <p:sp>
        <p:nvSpPr>
          <p:cNvPr id="12" name="Text 10"/>
          <p:cNvSpPr txBox="1"/>
          <p:nvPr/>
        </p:nvSpPr>
        <p:spPr>
          <a:xfrm>
            <a:off x="5303520" y="169164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13" name="Shape 11"/>
          <p:cNvSpPr/>
          <p:nvPr/>
        </p:nvSpPr>
        <p:spPr>
          <a:xfrm>
            <a:off x="5532120" y="1463040"/>
            <a:ext cx="1463040" cy="868680"/>
          </a:xfrm>
          <a:prstGeom prst="roundRect">
            <a:avLst>
              <a:gd name="adj" fmla="val 8421"/>
            </a:avLst>
          </a:prstGeom>
          <a:solidFill>
            <a:srgbClr val="F1F5F8"/>
          </a:solidFill>
          <a:ln w="12700">
            <a:solidFill>
              <a:srgbClr val="F1F5F8"/>
            </a:solidFill>
            <a:prstDash val="solid"/>
          </a:ln>
        </p:spPr>
      </p:sp>
      <p:sp>
        <p:nvSpPr>
          <p:cNvPr id="14" name="Text 12"/>
          <p:cNvSpPr txBox="1"/>
          <p:nvPr/>
        </p:nvSpPr>
        <p:spPr>
          <a:xfrm>
            <a:off x="5532120" y="1463040"/>
            <a:ext cx="1463040" cy="868680"/>
          </a:xfrm>
          <a:prstGeom prst="rect">
            <a:avLst/>
          </a:prstGeom>
          <a:noFill/>
          <a:ln/>
        </p:spPr>
        <p:txBody>
          <a:bodyPr wrap="square" lIns="38100" tIns="38100" rIns="38100" bIns="3810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LSTM branch</a:t>
            </a:r>
            <a:endParaRPr lang="en-US" sz="1200" dirty="0"/>
          </a:p>
        </p:txBody>
      </p:sp>
      <p:sp>
        <p:nvSpPr>
          <p:cNvPr id="15" name="Text 13"/>
          <p:cNvSpPr txBox="1"/>
          <p:nvPr/>
        </p:nvSpPr>
        <p:spPr>
          <a:xfrm>
            <a:off x="6995160" y="1691640"/>
            <a:ext cx="228600" cy="365760"/>
          </a:xfrm>
          <a:prstGeom prst="rect">
            <a:avLst/>
          </a:prstGeom>
          <a:noFill/>
          <a:ln/>
        </p:spPr>
        <p:txBody>
          <a:bodyPr wrap="square" lIns="0" tIns="0" rIns="0" bIns="0" rtlCol="0" anchor="ctr"/>
          <a:lstStyle/>
          <a:p>
            <a:pPr algn="ctr" indent="0" marL="0">
              <a:buNone/>
            </a:pPr>
            <a:r>
              <a:rPr lang="en-US" sz="1800" b="1" dirty="0">
                <a:solidFill>
                  <a:srgbClr val="5B6472"/>
                </a:solidFill>
                <a:latin typeface="Arial" pitchFamily="34" charset="0"/>
                <a:ea typeface="Arial" pitchFamily="34" charset="-122"/>
                <a:cs typeface="Arial" pitchFamily="34" charset="-120"/>
              </a:rPr>
              <a:t>&gt;</a:t>
            </a:r>
            <a:endParaRPr lang="en-US" sz="1800" dirty="0"/>
          </a:p>
        </p:txBody>
      </p:sp>
      <p:sp>
        <p:nvSpPr>
          <p:cNvPr id="16" name="Shape 14"/>
          <p:cNvSpPr/>
          <p:nvPr/>
        </p:nvSpPr>
        <p:spPr>
          <a:xfrm>
            <a:off x="7223760" y="1463040"/>
            <a:ext cx="1463040" cy="868680"/>
          </a:xfrm>
          <a:prstGeom prst="roundRect">
            <a:avLst>
              <a:gd name="adj" fmla="val 8421"/>
            </a:avLst>
          </a:prstGeom>
          <a:solidFill>
            <a:srgbClr val="0F1B2D"/>
          </a:solidFill>
          <a:ln w="12700">
            <a:solidFill>
              <a:srgbClr val="0F1B2D"/>
            </a:solidFill>
            <a:prstDash val="solid"/>
          </a:ln>
        </p:spPr>
      </p:sp>
      <p:sp>
        <p:nvSpPr>
          <p:cNvPr id="17" name="Text 15"/>
          <p:cNvSpPr txBox="1"/>
          <p:nvPr/>
        </p:nvSpPr>
        <p:spPr>
          <a:xfrm>
            <a:off x="7223760" y="1463040"/>
            <a:ext cx="1463040" cy="8686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Benign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Malicious</a:t>
            </a:r>
            <a:endParaRPr lang="en-US" sz="1200" dirty="0"/>
          </a:p>
        </p:txBody>
      </p:sp>
      <p:sp>
        <p:nvSpPr>
          <p:cNvPr id="18" name="Text 16"/>
          <p:cNvSpPr txBox="1"/>
          <p:nvPr/>
        </p:nvSpPr>
        <p:spPr>
          <a:xfrm>
            <a:off x="457200" y="2743200"/>
            <a:ext cx="256032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79,902</a:t>
            </a:r>
            <a:endParaRPr lang="en-US" sz="3000" dirty="0"/>
          </a:p>
        </p:txBody>
      </p:sp>
      <p:sp>
        <p:nvSpPr>
          <p:cNvPr id="19" name="Text 17"/>
          <p:cNvSpPr txBox="1"/>
          <p:nvPr/>
        </p:nvSpPr>
        <p:spPr>
          <a:xfrm>
            <a:off x="457200" y="3291840"/>
            <a:ext cx="25603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parameters in total</a:t>
            </a:r>
            <a:endParaRPr lang="en-US" sz="1150" dirty="0"/>
          </a:p>
        </p:txBody>
      </p:sp>
      <p:sp>
        <p:nvSpPr>
          <p:cNvPr id="20" name="Text 18"/>
          <p:cNvSpPr txBox="1"/>
          <p:nvPr/>
        </p:nvSpPr>
        <p:spPr>
          <a:xfrm>
            <a:off x="3200400" y="2743200"/>
            <a:ext cx="256032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1.0 MB</a:t>
            </a:r>
            <a:endParaRPr lang="en-US" sz="3000" dirty="0"/>
          </a:p>
        </p:txBody>
      </p:sp>
      <p:sp>
        <p:nvSpPr>
          <p:cNvPr id="21" name="Text 19"/>
          <p:cNvSpPr txBox="1"/>
          <p:nvPr/>
        </p:nvSpPr>
        <p:spPr>
          <a:xfrm>
            <a:off x="3200400" y="3291840"/>
            <a:ext cx="25603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model file (Keras)</a:t>
            </a:r>
            <a:endParaRPr lang="en-US" sz="1150" dirty="0"/>
          </a:p>
        </p:txBody>
      </p:sp>
      <p:sp>
        <p:nvSpPr>
          <p:cNvPr id="22" name="Text 20"/>
          <p:cNvSpPr txBox="1"/>
          <p:nvPr/>
        </p:nvSpPr>
        <p:spPr>
          <a:xfrm>
            <a:off x="5943600" y="2743200"/>
            <a:ext cx="274320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25 epochs</a:t>
            </a:r>
            <a:endParaRPr lang="en-US" sz="3000" dirty="0"/>
          </a:p>
        </p:txBody>
      </p:sp>
      <p:sp>
        <p:nvSpPr>
          <p:cNvPr id="23" name="Text 21"/>
          <p:cNvSpPr txBox="1"/>
          <p:nvPr/>
        </p:nvSpPr>
        <p:spPr>
          <a:xfrm>
            <a:off x="5943600" y="3291840"/>
            <a:ext cx="27432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17 min on a laptop GPU</a:t>
            </a:r>
            <a:endParaRPr lang="en-US" sz="1150" dirty="0"/>
          </a:p>
        </p:txBody>
      </p:sp>
      <p:sp>
        <p:nvSpPr>
          <p:cNvPr id="24" name="Text 22"/>
          <p:cNvSpPr txBox="1"/>
          <p:nvPr/>
        </p:nvSpPr>
        <p:spPr>
          <a:xfrm>
            <a:off x="457200" y="4023360"/>
            <a:ext cx="8229600" cy="6400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CNN-LSTM exactly as in the paper's Fig. 2. Unstated details (batch size, learning rate, pooling) are documented assumptions. The deep-learning internals are in our report; here we care about what it means for IoT.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Result: it catches almost every attack</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Held-out test set: 183,857 flows the model never saw</a:t>
            </a:r>
            <a:endParaRPr lang="en-US" sz="1300" dirty="0"/>
          </a:p>
        </p:txBody>
      </p:sp>
      <p:sp>
        <p:nvSpPr>
          <p:cNvPr id="4" name="Text 2"/>
          <p:cNvSpPr txBox="1"/>
          <p:nvPr/>
        </p:nvSpPr>
        <p:spPr>
          <a:xfrm>
            <a:off x="457200" y="1280160"/>
            <a:ext cx="2103120" cy="548640"/>
          </a:xfrm>
          <a:prstGeom prst="rect">
            <a:avLst/>
          </a:prstGeom>
          <a:noFill/>
          <a:ln/>
        </p:spPr>
        <p:txBody>
          <a:bodyPr wrap="square" lIns="0" tIns="0" rIns="0" bIns="0" rtlCol="0" anchor="ctr"/>
          <a:lstStyle/>
          <a:p>
            <a:pPr indent="0" marL="0">
              <a:buNone/>
            </a:pPr>
            <a:r>
              <a:rPr lang="en-US" sz="3200" b="1" dirty="0">
                <a:solidFill>
                  <a:srgbClr val="C0392B"/>
                </a:solidFill>
                <a:latin typeface="Arial" pitchFamily="34" charset="0"/>
                <a:ea typeface="Arial" pitchFamily="34" charset="-122"/>
                <a:cs typeface="Arial" pitchFamily="34" charset="-120"/>
              </a:rPr>
              <a:t>98.74%</a:t>
            </a:r>
            <a:endParaRPr lang="en-US" sz="3200" dirty="0"/>
          </a:p>
        </p:txBody>
      </p:sp>
      <p:sp>
        <p:nvSpPr>
          <p:cNvPr id="5" name="Text 3"/>
          <p:cNvSpPr txBox="1"/>
          <p:nvPr/>
        </p:nvSpPr>
        <p:spPr>
          <a:xfrm>
            <a:off x="457200" y="1828800"/>
            <a:ext cx="21031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accuracy (paper: 98.42%)</a:t>
            </a:r>
            <a:endParaRPr lang="en-US" sz="1150" dirty="0"/>
          </a:p>
        </p:txBody>
      </p:sp>
      <p:sp>
        <p:nvSpPr>
          <p:cNvPr id="6" name="Text 4"/>
          <p:cNvSpPr txBox="1"/>
          <p:nvPr/>
        </p:nvSpPr>
        <p:spPr>
          <a:xfrm>
            <a:off x="2651760" y="1280160"/>
            <a:ext cx="2011680" cy="548640"/>
          </a:xfrm>
          <a:prstGeom prst="rect">
            <a:avLst/>
          </a:prstGeom>
          <a:noFill/>
          <a:ln/>
        </p:spPr>
        <p:txBody>
          <a:bodyPr wrap="square" lIns="0" tIns="0" rIns="0" bIns="0" rtlCol="0" anchor="ctr"/>
          <a:lstStyle/>
          <a:p>
            <a:pPr indent="0" marL="0">
              <a:buNone/>
            </a:pPr>
            <a:r>
              <a:rPr lang="en-US" sz="3200" b="1" dirty="0">
                <a:solidFill>
                  <a:srgbClr val="0E8C80"/>
                </a:solidFill>
                <a:latin typeface="Arial" pitchFamily="34" charset="0"/>
                <a:ea typeface="Arial" pitchFamily="34" charset="-122"/>
                <a:cs typeface="Arial" pitchFamily="34" charset="-120"/>
              </a:rPr>
              <a:t>98.7%</a:t>
            </a:r>
            <a:endParaRPr lang="en-US" sz="3200" dirty="0"/>
          </a:p>
        </p:txBody>
      </p:sp>
      <p:sp>
        <p:nvSpPr>
          <p:cNvPr id="7" name="Text 5"/>
          <p:cNvSpPr txBox="1"/>
          <p:nvPr/>
        </p:nvSpPr>
        <p:spPr>
          <a:xfrm>
            <a:off x="2651760" y="182880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of attacks detected</a:t>
            </a:r>
            <a:endParaRPr lang="en-US" sz="1150" dirty="0"/>
          </a:p>
        </p:txBody>
      </p:sp>
      <p:sp>
        <p:nvSpPr>
          <p:cNvPr id="8" name="Text 6"/>
          <p:cNvSpPr txBox="1"/>
          <p:nvPr/>
        </p:nvSpPr>
        <p:spPr>
          <a:xfrm>
            <a:off x="457200" y="2468880"/>
            <a:ext cx="2103120" cy="548640"/>
          </a:xfrm>
          <a:prstGeom prst="rect">
            <a:avLst/>
          </a:prstGeom>
          <a:noFill/>
          <a:ln/>
        </p:spPr>
        <p:txBody>
          <a:bodyPr wrap="square" lIns="0" tIns="0" rIns="0" bIns="0" rtlCol="0" anchor="ctr"/>
          <a:lstStyle/>
          <a:p>
            <a:pPr indent="0" marL="0">
              <a:buNone/>
            </a:pPr>
            <a:r>
              <a:rPr lang="en-US" sz="3200" b="1" dirty="0">
                <a:solidFill>
                  <a:srgbClr val="0E8C80"/>
                </a:solidFill>
                <a:latin typeface="Arial" pitchFamily="34" charset="0"/>
                <a:ea typeface="Arial" pitchFamily="34" charset="-122"/>
                <a:cs typeface="Arial" pitchFamily="34" charset="-120"/>
              </a:rPr>
              <a:t>8</a:t>
            </a:r>
            <a:endParaRPr lang="en-US" sz="3200" dirty="0"/>
          </a:p>
        </p:txBody>
      </p:sp>
      <p:sp>
        <p:nvSpPr>
          <p:cNvPr id="9" name="Text 7"/>
          <p:cNvSpPr txBox="1"/>
          <p:nvPr/>
        </p:nvSpPr>
        <p:spPr>
          <a:xfrm>
            <a:off x="457200" y="3017520"/>
            <a:ext cx="21031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false alarms on benign traffic (0.16%)</a:t>
            </a:r>
            <a:endParaRPr lang="en-US" sz="1150" dirty="0"/>
          </a:p>
        </p:txBody>
      </p:sp>
      <p:sp>
        <p:nvSpPr>
          <p:cNvPr id="10" name="Text 8"/>
          <p:cNvSpPr txBox="1"/>
          <p:nvPr/>
        </p:nvSpPr>
        <p:spPr>
          <a:xfrm>
            <a:off x="2651760" y="2468880"/>
            <a:ext cx="2011680" cy="548640"/>
          </a:xfrm>
          <a:prstGeom prst="rect">
            <a:avLst/>
          </a:prstGeom>
          <a:noFill/>
          <a:ln/>
        </p:spPr>
        <p:txBody>
          <a:bodyPr wrap="square" lIns="0" tIns="0" rIns="0" bIns="0" rtlCol="0" anchor="ctr"/>
          <a:lstStyle/>
          <a:p>
            <a:pPr indent="0" marL="0">
              <a:buNone/>
            </a:pPr>
            <a:r>
              <a:rPr lang="en-US" sz="3200" b="1" dirty="0">
                <a:solidFill>
                  <a:srgbClr val="B8660B"/>
                </a:solidFill>
                <a:latin typeface="Arial" pitchFamily="34" charset="0"/>
                <a:ea typeface="Arial" pitchFamily="34" charset="-122"/>
                <a:cs typeface="Arial" pitchFamily="34" charset="-120"/>
              </a:rPr>
              <a:t>2,300</a:t>
            </a:r>
            <a:endParaRPr lang="en-US" sz="3200" dirty="0"/>
          </a:p>
        </p:txBody>
      </p:sp>
      <p:sp>
        <p:nvSpPr>
          <p:cNvPr id="11" name="Text 9"/>
          <p:cNvSpPr txBox="1"/>
          <p:nvPr/>
        </p:nvSpPr>
        <p:spPr>
          <a:xfrm>
            <a:off x="2651760" y="301752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attacks missed (1.29%)</a:t>
            </a:r>
            <a:endParaRPr lang="en-US" sz="1150" dirty="0"/>
          </a:p>
        </p:txBody>
      </p:sp>
      <p:sp>
        <p:nvSpPr>
          <p:cNvPr id="12" name="Text 10"/>
          <p:cNvSpPr txBox="1"/>
          <p:nvPr/>
        </p:nvSpPr>
        <p:spPr>
          <a:xfrm>
            <a:off x="457200" y="3520440"/>
            <a:ext cx="4206240" cy="5943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False alarms matter for IoT: a wrongly blocked device (a door lock, a camera) is a real outage. Here only 8 benign flows were flagged.</a:t>
            </a:r>
            <a:endParaRPr lang="en-US" sz="1200" dirty="0"/>
          </a:p>
        </p:txBody>
      </p:sp>
      <p:pic>
        <p:nvPicPr>
          <p:cNvPr id="13" name="Image 0" descr="C:\Users\ayush\Desktop\Coding\IDS\iot_ids_cnn_lstm\outputs\figures\10_confusion_matrix_normalized.png">    </p:cNvPr>
          <p:cNvPicPr>
            <a:picLocks noChangeAspect="1"/>
          </p:cNvPicPr>
          <p:nvPr/>
        </p:nvPicPr>
        <p:blipFill>
          <a:blip r:embed="rId1"/>
          <a:stretch>
            <a:fillRect/>
          </a:stretch>
        </p:blipFill>
        <p:spPr>
          <a:xfrm>
            <a:off x="5212080" y="1234440"/>
            <a:ext cx="3474720" cy="2977481"/>
          </a:xfrm>
          <a:prstGeom prst="rect">
            <a:avLst/>
          </a:prstGeom>
        </p:spPr>
      </p:pic>
      <p:sp>
        <p:nvSpPr>
          <p:cNvPr id="14" name="Text 11"/>
          <p:cNvSpPr txBox="1"/>
          <p:nvPr/>
        </p:nvSpPr>
        <p:spPr>
          <a:xfrm>
            <a:off x="457200" y="4160520"/>
            <a:ext cx="4389120" cy="59436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Caution: 97.3% of flows are attacks, so even "always say attack" scores 97.3% accuracy. That is why we also report false alarms and MCC (0.82).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Which IoT attacks does it miss?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Share of test flows misclassified, per original traffic type</a:t>
            </a:r>
            <a:endParaRPr lang="en-US" sz="1300" dirty="0"/>
          </a:p>
        </p:txBody>
      </p:sp>
      <p:pic>
        <p:nvPicPr>
          <p:cNvPr id="4" name="Image 0" descr="C:\Users\ayush\Desktop\Coding\IDS\iot_ids_cnn_lstm\outputs\figures\20_error_by_attack_type.png">    </p:cNvPr>
          <p:cNvPicPr>
            <a:picLocks noChangeAspect="1"/>
          </p:cNvPicPr>
          <p:nvPr/>
        </p:nvPicPr>
        <p:blipFill>
          <a:blip r:embed="rId1"/>
          <a:stretch>
            <a:fillRect/>
          </a:stretch>
        </p:blipFill>
        <p:spPr>
          <a:xfrm>
            <a:off x="457200" y="1188720"/>
            <a:ext cx="4937760" cy="3455395"/>
          </a:xfrm>
          <a:prstGeom prst="rect">
            <a:avLst/>
          </a:prstGeom>
        </p:spPr>
      </p:pic>
      <p:sp>
        <p:nvSpPr>
          <p:cNvPr id="5" name="Text 2"/>
          <p:cNvSpPr txBox="1"/>
          <p:nvPr/>
        </p:nvSpPr>
        <p:spPr>
          <a:xfrm>
            <a:off x="5669280" y="1234440"/>
            <a:ext cx="3017520" cy="3474720"/>
          </a:xfrm>
          <a:prstGeom prst="rect">
            <a:avLst/>
          </a:prstGeom>
          <a:noFill/>
          <a:ln/>
        </p:spPr>
        <p:txBody>
          <a:bodyPr wrap="square" lIns="0" tIns="0" rIns="0" bIns="0" rtlCol="0" anchor="t"/>
          <a:lstStyle/>
          <a:p>
            <a:pPr indent="0" marL="0">
              <a:buNone/>
            </a:pPr>
            <a:r>
              <a:rPr lang="en-US" sz="1250" b="1" dirty="0">
                <a:solidFill>
                  <a:srgbClr val="0E8C80"/>
                </a:solidFill>
                <a:latin typeface="Calibri" pitchFamily="34" charset="0"/>
                <a:ea typeface="Calibri" pitchFamily="34" charset="-122"/>
                <a:cs typeface="Calibri" pitchFamily="34" charset="-120"/>
              </a:rPr>
              <a:t>Floods: easy</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DDoS and DoS are almost never missed (DDoS-SYN 0%).</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C0392B"/>
                </a:solidFill>
                <a:latin typeface="Calibri" pitchFamily="34" charset="0"/>
                <a:ea typeface="Calibri" pitchFamily="34" charset="-122"/>
                <a:cs typeface="Calibri" pitchFamily="34" charset="-120"/>
              </a:rPr>
              <a:t>Quiet attacks: hard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Recon-OSScan 80%, DNS spoofing 75%, ARP spoofing 42% missed.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C0392B"/>
                </a:solidFill>
                <a:latin typeface="Calibri" pitchFamily="34" charset="0"/>
                <a:ea typeface="Calibri" pitchFamily="34" charset="-122"/>
                <a:cs typeface="Calibri" pitchFamily="34" charset="-120"/>
              </a:rPr>
              <a:t>Web attacks: mostly missed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SQL injection, XSS, backdoor: few samples and they look like normal traffic at flow level.</a:t>
            </a:r>
            <a:endParaRPr lang="en-US" sz="1250" dirty="0"/>
          </a:p>
        </p:txBody>
      </p:sp>
      <p:sp>
        <p:nvSpPr>
          <p:cNvPr id="6" name="Text 3"/>
          <p:cNvSpPr txBox="1"/>
          <p:nvPr/>
        </p:nvSpPr>
        <p:spPr>
          <a:xfrm>
            <a:off x="5669280" y="3794760"/>
            <a:ext cx="3017520" cy="8686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Implication: a flow-level IDS is one layer. Pair it with device hardening and application-level checks.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Small and fast enough for a gateway</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TensorFlow Lite export, measured on a laptop CPU, one flow at a time</a:t>
            </a:r>
            <a:endParaRPr lang="en-US" sz="1300" dirty="0"/>
          </a:p>
        </p:txBody>
      </p:sp>
      <p:graphicFrame>
        <p:nvGraphicFramePr>
          <p:cNvPr id="4" name="Chart 0" descr=""/>
          <p:cNvGraphicFramePr/>
          <p:nvPr/>
        </p:nvGraphicFramePr>
        <p:xfrm>
          <a:off x="457200" y="1234440"/>
          <a:ext cx="42062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029200" y="1280160"/>
            <a:ext cx="365760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0.20 MB</a:t>
            </a:r>
            <a:endParaRPr lang="en-US" sz="3000" dirty="0"/>
          </a:p>
        </p:txBody>
      </p:sp>
      <p:sp>
        <p:nvSpPr>
          <p:cNvPr id="6" name="Text 3"/>
          <p:cNvSpPr txBox="1"/>
          <p:nvPr/>
        </p:nvSpPr>
        <p:spPr>
          <a:xfrm>
            <a:off x="5029200" y="1828800"/>
            <a:ext cx="36576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int8 model: 5x smaller than Keras</a:t>
            </a:r>
            <a:endParaRPr lang="en-US" sz="1150" dirty="0"/>
          </a:p>
        </p:txBody>
      </p:sp>
      <p:sp>
        <p:nvSpPr>
          <p:cNvPr id="7" name="Text 4"/>
          <p:cNvSpPr txBox="1"/>
          <p:nvPr/>
        </p:nvSpPr>
        <p:spPr>
          <a:xfrm>
            <a:off x="5029200" y="2331720"/>
            <a:ext cx="365760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0.037 ms</a:t>
            </a:r>
            <a:endParaRPr lang="en-US" sz="3000" dirty="0"/>
          </a:p>
        </p:txBody>
      </p:sp>
      <p:sp>
        <p:nvSpPr>
          <p:cNvPr id="8" name="Text 5"/>
          <p:cNvSpPr txBox="1"/>
          <p:nvPr/>
        </p:nvSpPr>
        <p:spPr>
          <a:xfrm>
            <a:off x="5029200" y="2880360"/>
            <a:ext cx="36576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to classify one flow on a CPU</a:t>
            </a:r>
            <a:endParaRPr lang="en-US" sz="1150" dirty="0"/>
          </a:p>
        </p:txBody>
      </p:sp>
      <p:sp>
        <p:nvSpPr>
          <p:cNvPr id="9" name="Text 6"/>
          <p:cNvSpPr txBox="1"/>
          <p:nvPr/>
        </p:nvSpPr>
        <p:spPr>
          <a:xfrm>
            <a:off x="5029200" y="3383280"/>
            <a:ext cx="365760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No loss</a:t>
            </a:r>
            <a:endParaRPr lang="en-US" sz="3000" dirty="0"/>
          </a:p>
        </p:txBody>
      </p:sp>
      <p:sp>
        <p:nvSpPr>
          <p:cNvPr id="10" name="Text 7"/>
          <p:cNvSpPr txBox="1"/>
          <p:nvPr/>
        </p:nvSpPr>
        <p:spPr>
          <a:xfrm>
            <a:off x="5029200" y="3931920"/>
            <a:ext cx="36576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of accuracy after int8 quantization</a:t>
            </a:r>
            <a:endParaRPr lang="en-US" sz="1150" dirty="0"/>
          </a:p>
        </p:txBody>
      </p:sp>
      <p:sp>
        <p:nvSpPr>
          <p:cNvPr id="11" name="Text 8"/>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50" i="1" dirty="0">
                <a:solidFill>
                  <a:srgbClr val="B8660B"/>
                </a:solidFill>
                <a:latin typeface="Calibri" pitchFamily="34" charset="0"/>
                <a:ea typeface="Calibri" pitchFamily="34" charset="-122"/>
                <a:cs typeface="Calibri" pitchFamily="34" charset="-120"/>
              </a:rPr>
              <a:t>Not yet tested on real IoT hardware (e.g. Raspberry Pi): that is our next step.</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Do we even need the CNN-LSTM?</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An honest finding for resource-limited IoT: simpler models do as well</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194560"/>
                <a:gridCol w="1097280"/>
                <a:gridCol w="1280160"/>
                <a:gridCol w="1463040"/>
                <a:gridCol w="1005840"/>
                <a:gridCol w="1188720"/>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False alarms</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Missed attacks</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MCC</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Size (MB)</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r>
              <a:tr h="4114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CNN-LSTM (paper)</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98.74%</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2,300</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0.818</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1.04</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CNN only</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98.82%</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2,167</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0.826</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0.41</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99.61%</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94</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0.930</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4.38</a:t>
                      </a:r>
                      <a:endParaRPr lang="en-US" sz="12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6F4F1"/>
                    </a:solidFill>
                  </a:tcPr>
                </a:tc>
              </a:tr>
            </a:tbl>
          </a:graphicData>
        </a:graphic>
      </p:graphicFrame>
      <p:sp>
        <p:nvSpPr>
          <p:cNvPr id="5" name="Text 2"/>
          <p:cNvSpPr txBox="1"/>
          <p:nvPr/>
        </p:nvSpPr>
        <p:spPr>
          <a:xfrm>
            <a:off x="457200" y="3291840"/>
            <a:ext cx="822960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LSTM branch adds nothing: CNN-only MCC 0.826 vs CNN-LSTM 0.818.</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 Random Forest trained on only 300,000 flows is the strongest (accuracy 99.61%, MCC 0.93).</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paper did not compare against classical models. For constrained IoT gateways, a simple model is attractive: easier to deploy and to audit.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Reproduction check against the paper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Paper values from the published abstract</a:t>
            </a:r>
            <a:endParaRPr lang="en-US" sz="1300" dirty="0"/>
          </a:p>
        </p:txBody>
      </p:sp>
      <p:graphicFrame>
        <p:nvGraphicFramePr>
          <p:cNvPr id="4" name="Chart 0" descr=""/>
          <p:cNvGraphicFramePr/>
          <p:nvPr/>
        </p:nvGraphicFramePr>
        <p:xfrm>
          <a:off x="457200" y="1280160"/>
          <a:ext cx="47548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3200400" cy="914400"/>
        </p:xfrm>
        <a:graphic>
          <a:graphicData uri="http://schemas.openxmlformats.org/drawingml/2006/table">
            <a:tbl>
              <a:tblPr/>
              <a:tblGrid>
                <a:gridCol w="1280160"/>
                <a:gridCol w="914400"/>
                <a:gridCol w="100584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r>
              <a:tr h="36576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98.42%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98.74%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98.57%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98.86%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False pos. rate</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9.17%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 name="Text 2"/>
          <p:cNvSpPr txBox="1"/>
          <p:nvPr/>
        </p:nvSpPr>
        <p:spPr>
          <a:xfrm>
            <a:off x="5486400" y="3017520"/>
            <a:ext cx="3200400" cy="1463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Our false positive rate is far lower because we weighted the rare benign class. Without class weights it is 6.71%, close to the paper's 9.17%. Data subset, split and hyperparameters also differ.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Demo: replaying real IoT flows through the detector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Real held-out test flows, real model output (traffic_replay.mp4)</a:t>
            </a:r>
            <a:endParaRPr lang="en-US" sz="1300" dirty="0"/>
          </a:p>
        </p:txBody>
      </p:sp>
      <p:pic>
        <p:nvPicPr>
          <p:cNvPr id="4" name="Image 0" descr="C:\Users\ayush\Desktop\Coding\IDS\iot_ids_cnn_lstm\outputs\animations\traffic_replay_final_16x9.png">    </p:cNvPr>
          <p:cNvPicPr>
            <a:picLocks noChangeAspect="1"/>
          </p:cNvPicPr>
          <p:nvPr/>
        </p:nvPicPr>
        <p:blipFill>
          <a:blip r:embed="rId1"/>
          <a:stretch>
            <a:fillRect/>
          </a:stretch>
        </p:blipFill>
        <p:spPr>
          <a:xfrm>
            <a:off x="457200" y="1280160"/>
            <a:ext cx="5120640" cy="2880000"/>
          </a:xfrm>
          <a:prstGeom prst="rect">
            <a:avLst/>
          </a:prstGeom>
        </p:spPr>
      </p:pic>
      <p:sp>
        <p:nvSpPr>
          <p:cNvPr id="5" name="Text 2"/>
          <p:cNvSpPr txBox="1"/>
          <p:nvPr/>
        </p:nvSpPr>
        <p:spPr>
          <a:xfrm>
            <a:off x="5852160" y="1325880"/>
            <a:ext cx="2834640" cy="21945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Benign flows stay far below the alert threshold</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 DDoS burst pushes the score to ~1.0 and fires the alert</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Quiet recon and spoofing flows are sometimes missed</a:t>
            </a:r>
            <a:endParaRPr lang="en-US" sz="1250" dirty="0"/>
          </a:p>
        </p:txBody>
      </p:sp>
      <p:sp>
        <p:nvSpPr>
          <p:cNvPr id="6" name="Text 3"/>
          <p:cNvSpPr txBox="1"/>
          <p:nvPr/>
        </p:nvSpPr>
        <p:spPr>
          <a:xfrm>
            <a:off x="457200" y="4297680"/>
            <a:ext cx="8229600" cy="548640"/>
          </a:xfrm>
          <a:prstGeom prst="rect">
            <a:avLst/>
          </a:prstGeom>
          <a:noFill/>
          <a:ln/>
        </p:spPr>
        <p:txBody>
          <a:bodyPr wrap="square" lIns="0" tIns="0" rIns="0" bIns="0" rtlCol="0" anchor="t"/>
          <a:lstStyle/>
          <a:p>
            <a:pPr indent="0" marL="0">
              <a:buNone/>
            </a:pPr>
            <a:r>
              <a:rPr lang="en-US" sz="1150" i="1" dirty="0">
                <a:solidFill>
                  <a:srgbClr val="5B6472"/>
                </a:solidFill>
                <a:latin typeface="Calibri" pitchFamily="34" charset="0"/>
                <a:ea typeface="Calibri" pitchFamily="34" charset="-122"/>
                <a:cs typeface="Calibri" pitchFamily="34" charset="-120"/>
              </a:rPr>
              <a:t>This is a replay of recorded flows, not live network traffic. The stream is re-sampled to be watchable, so its running numbers are not the reported results.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Limits and next steps toward a real IoT deployment</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What we did, and what is still missing</a:t>
            </a:r>
            <a:endParaRPr lang="en-US" sz="1300" dirty="0"/>
          </a:p>
        </p:txBody>
      </p:sp>
      <p:sp>
        <p:nvSpPr>
          <p:cNvPr id="4" name="Shape 2"/>
          <p:cNvSpPr/>
          <p:nvPr/>
        </p:nvSpPr>
        <p:spPr>
          <a:xfrm>
            <a:off x="457200" y="1325880"/>
            <a:ext cx="4023360" cy="2651760"/>
          </a:xfrm>
          <a:prstGeom prst="roundRect">
            <a:avLst>
              <a:gd name="adj" fmla="val 2759"/>
            </a:avLst>
          </a:prstGeom>
          <a:solidFill>
            <a:srgbClr val="F1F5F8"/>
          </a:solidFill>
          <a:ln w="12700">
            <a:solidFill>
              <a:srgbClr val="F1F5F8"/>
            </a:solidFill>
            <a:prstDash val="solid"/>
          </a:ln>
        </p:spPr>
      </p:sp>
      <p:sp>
        <p:nvSpPr>
          <p:cNvPr id="5" name="Text 3"/>
          <p:cNvSpPr txBox="1"/>
          <p:nvPr/>
        </p:nvSpPr>
        <p:spPr>
          <a:xfrm>
            <a:off x="640080" y="1417320"/>
            <a:ext cx="3657600" cy="365760"/>
          </a:xfrm>
          <a:prstGeom prst="rect">
            <a:avLst/>
          </a:prstGeom>
          <a:noFill/>
          <a:ln/>
        </p:spPr>
        <p:txBody>
          <a:bodyPr wrap="square" lIns="0" tIns="0" rIns="0" bIns="0" rtlCol="0" anchor="ctr"/>
          <a:lstStyle/>
          <a:p>
            <a:pPr indent="0" marL="0">
              <a:buNone/>
            </a:pPr>
            <a:r>
              <a:rPr lang="en-US" sz="1600" b="1" dirty="0">
                <a:solidFill>
                  <a:srgbClr val="0E8C80"/>
                </a:solidFill>
                <a:latin typeface="Arial" pitchFamily="34" charset="0"/>
                <a:ea typeface="Arial" pitchFamily="34" charset="-122"/>
                <a:cs typeface="Arial" pitchFamily="34" charset="-120"/>
              </a:rPr>
              <a:t>Done</a:t>
            </a:r>
            <a:endParaRPr lang="en-US" sz="1600" dirty="0"/>
          </a:p>
        </p:txBody>
      </p:sp>
      <p:sp>
        <p:nvSpPr>
          <p:cNvPr id="6" name="Text 4"/>
          <p:cNvSpPr txBox="1"/>
          <p:nvPr/>
        </p:nvSpPr>
        <p:spPr>
          <a:xfrm>
            <a:off x="640080" y="1828800"/>
            <a:ext cx="365760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Detector trained on real IoT lab traffic</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98.7% accuracy, only 8 false alarms in 183,857 flows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5-fold CV: stable at 98.1%</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Exported to 0.20 MB TFLite model</a:t>
            </a:r>
            <a:endParaRPr lang="en-US" sz="1300" dirty="0"/>
          </a:p>
        </p:txBody>
      </p:sp>
      <p:sp>
        <p:nvSpPr>
          <p:cNvPr id="7" name="Shape 5"/>
          <p:cNvSpPr/>
          <p:nvPr/>
        </p:nvSpPr>
        <p:spPr>
          <a:xfrm>
            <a:off x="4663440" y="1325880"/>
            <a:ext cx="4023360" cy="2651760"/>
          </a:xfrm>
          <a:prstGeom prst="roundRect">
            <a:avLst>
              <a:gd name="adj" fmla="val 2759"/>
            </a:avLst>
          </a:prstGeom>
          <a:solidFill>
            <a:srgbClr val="FBE9E7"/>
          </a:solidFill>
          <a:ln w="12700">
            <a:solidFill>
              <a:srgbClr val="FBE9E7"/>
            </a:solidFill>
            <a:prstDash val="solid"/>
          </a:ln>
        </p:spPr>
      </p:sp>
      <p:sp>
        <p:nvSpPr>
          <p:cNvPr id="8" name="Text 6"/>
          <p:cNvSpPr txBox="1"/>
          <p:nvPr/>
        </p:nvSpPr>
        <p:spPr>
          <a:xfrm>
            <a:off x="4846320" y="1417320"/>
            <a:ext cx="3657600" cy="365760"/>
          </a:xfrm>
          <a:prstGeom prst="rect">
            <a:avLst/>
          </a:prstGeom>
          <a:noFill/>
          <a:ln/>
        </p:spPr>
        <p:txBody>
          <a:bodyPr wrap="square" lIns="0" tIns="0" rIns="0" bIns="0" rtlCol="0" anchor="ctr"/>
          <a:lstStyle/>
          <a:p>
            <a:pPr indent="0" marL="0">
              <a:buNone/>
            </a:pPr>
            <a:r>
              <a:rPr lang="en-US" sz="1600" b="1" dirty="0">
                <a:solidFill>
                  <a:srgbClr val="C0392B"/>
                </a:solidFill>
                <a:latin typeface="Arial" pitchFamily="34" charset="0"/>
                <a:ea typeface="Arial" pitchFamily="34" charset="-122"/>
                <a:cs typeface="Arial" pitchFamily="34" charset="-120"/>
              </a:rPr>
              <a:t>Not done yet</a:t>
            </a:r>
            <a:endParaRPr lang="en-US" sz="1600" dirty="0"/>
          </a:p>
        </p:txBody>
      </p:sp>
      <p:sp>
        <p:nvSpPr>
          <p:cNvPr id="9" name="Text 7"/>
          <p:cNvSpPr txBox="1"/>
          <p:nvPr/>
        </p:nvSpPr>
        <p:spPr>
          <a:xfrm>
            <a:off x="4846320" y="1828800"/>
            <a:ext cx="365760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Run on real gateway hardware (Raspberry Pi)</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Live packet capture and flow extraction with the same 46 features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Detect unseen attacks and new devices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Better coverage of quiet attacks (recon, spoofing, web)</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Takeaways</a:t>
            </a:r>
            <a:endParaRPr lang="en-US" sz="3400" dirty="0"/>
          </a:p>
        </p:txBody>
      </p:sp>
      <p:sp>
        <p:nvSpPr>
          <p:cNvPr id="3" name="Shape 1"/>
          <p:cNvSpPr/>
          <p:nvPr/>
        </p:nvSpPr>
        <p:spPr>
          <a:xfrm>
            <a:off x="548640" y="1371600"/>
            <a:ext cx="384048" cy="384048"/>
          </a:xfrm>
          <a:prstGeom prst="ellipse">
            <a:avLst/>
          </a:prstGeom>
          <a:solidFill>
            <a:srgbClr val="0E8C80"/>
          </a:solidFill>
          <a:ln w="12700">
            <a:solidFill>
              <a:srgbClr val="0E8C80"/>
            </a:solidFill>
            <a:prstDash val="solid"/>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1097280" y="132588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IoT devices cannot defend themselves</a:t>
            </a:r>
            <a:endParaRPr lang="en-US" sz="1600" dirty="0"/>
          </a:p>
        </p:txBody>
      </p:sp>
      <p:sp>
        <p:nvSpPr>
          <p:cNvPr id="6" name="Text 4"/>
          <p:cNvSpPr txBox="1"/>
          <p:nvPr/>
        </p:nvSpPr>
        <p:spPr>
          <a:xfrm>
            <a:off x="1097280" y="167335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A gateway IDS protects all of them without loading the devices.</a:t>
            </a:r>
            <a:endParaRPr lang="en-US" sz="1300" dirty="0"/>
          </a:p>
        </p:txBody>
      </p:sp>
      <p:sp>
        <p:nvSpPr>
          <p:cNvPr id="7" name="Shape 5"/>
          <p:cNvSpPr/>
          <p:nvPr/>
        </p:nvSpPr>
        <p:spPr>
          <a:xfrm>
            <a:off x="548640" y="2240280"/>
            <a:ext cx="384048" cy="384048"/>
          </a:xfrm>
          <a:prstGeom prst="ellipse">
            <a:avLst/>
          </a:prstGeom>
          <a:solidFill>
            <a:srgbClr val="0E8C80"/>
          </a:solidFill>
          <a:ln w="12700">
            <a:solidFill>
              <a:srgbClr val="0E8C80"/>
            </a:solidFill>
            <a:prstDash val="solid"/>
          </a:ln>
        </p:spPr>
      </p:sp>
      <p:sp>
        <p:nvSpPr>
          <p:cNvPr id="8" name="Text 6"/>
          <p:cNvSpPr txBox="1"/>
          <p:nvPr/>
        </p:nvSpPr>
        <p:spPr>
          <a:xfrm>
            <a:off x="54864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1097280" y="219456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It works: 98.74% accuracy, 8 false alarms</a:t>
            </a:r>
            <a:endParaRPr lang="en-US" sz="1600" dirty="0"/>
          </a:p>
        </p:txBody>
      </p:sp>
      <p:sp>
        <p:nvSpPr>
          <p:cNvPr id="10" name="Text 8"/>
          <p:cNvSpPr txBox="1"/>
          <p:nvPr/>
        </p:nvSpPr>
        <p:spPr>
          <a:xfrm>
            <a:off x="1097280" y="254203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Reproduces the paper's 98.42% on real IoT lab traffic.</a:t>
            </a:r>
            <a:endParaRPr lang="en-US" sz="1300" dirty="0"/>
          </a:p>
        </p:txBody>
      </p:sp>
      <p:sp>
        <p:nvSpPr>
          <p:cNvPr id="11" name="Shape 9"/>
          <p:cNvSpPr/>
          <p:nvPr/>
        </p:nvSpPr>
        <p:spPr>
          <a:xfrm>
            <a:off x="548640" y="3108960"/>
            <a:ext cx="384048" cy="384048"/>
          </a:xfrm>
          <a:prstGeom prst="ellipse">
            <a:avLst/>
          </a:prstGeom>
          <a:solidFill>
            <a:srgbClr val="0E8C80"/>
          </a:solidFill>
          <a:ln w="12700">
            <a:solidFill>
              <a:srgbClr val="0E8C80"/>
            </a:solidFill>
            <a:prstDash val="solid"/>
          </a:ln>
        </p:spPr>
      </p:sp>
      <p:sp>
        <p:nvSpPr>
          <p:cNvPr id="12" name="Text 10"/>
          <p:cNvSpPr txBox="1"/>
          <p:nvPr/>
        </p:nvSpPr>
        <p:spPr>
          <a:xfrm>
            <a:off x="54864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097280" y="306324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Small enough for the edge</a:t>
            </a:r>
            <a:endParaRPr lang="en-US" sz="1600" dirty="0"/>
          </a:p>
        </p:txBody>
      </p:sp>
      <p:sp>
        <p:nvSpPr>
          <p:cNvPr id="14" name="Text 12"/>
          <p:cNvSpPr txBox="1"/>
          <p:nvPr/>
        </p:nvSpPr>
        <p:spPr>
          <a:xfrm>
            <a:off x="1097280" y="341071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0.20 MB and 0.037 ms per flow (laptop CPU, no accuracy loss).</a:t>
            </a:r>
            <a:endParaRPr lang="en-US" sz="1300" dirty="0"/>
          </a:p>
        </p:txBody>
      </p:sp>
      <p:sp>
        <p:nvSpPr>
          <p:cNvPr id="15" name="Shape 13"/>
          <p:cNvSpPr/>
          <p:nvPr/>
        </p:nvSpPr>
        <p:spPr>
          <a:xfrm>
            <a:off x="548640" y="3977640"/>
            <a:ext cx="384048" cy="384048"/>
          </a:xfrm>
          <a:prstGeom prst="ellipse">
            <a:avLst/>
          </a:prstGeom>
          <a:solidFill>
            <a:srgbClr val="0E8C80"/>
          </a:solidFill>
          <a:ln w="12700">
            <a:solidFill>
              <a:srgbClr val="0E8C80"/>
            </a:solidFill>
            <a:prstDash val="solid"/>
          </a:ln>
        </p:spPr>
      </p:sp>
      <p:sp>
        <p:nvSpPr>
          <p:cNvPr id="16" name="Text 14"/>
          <p:cNvSpPr txBox="1"/>
          <p:nvPr/>
        </p:nvSpPr>
        <p:spPr>
          <a:xfrm>
            <a:off x="54864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5"/>
          <p:cNvSpPr txBox="1"/>
          <p:nvPr/>
        </p:nvSpPr>
        <p:spPr>
          <a:xfrm>
            <a:off x="1097280" y="393192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Honest limits</a:t>
            </a:r>
            <a:endParaRPr lang="en-US" sz="1600" dirty="0"/>
          </a:p>
        </p:txBody>
      </p:sp>
      <p:sp>
        <p:nvSpPr>
          <p:cNvPr id="18" name="Text 16"/>
          <p:cNvSpPr txBox="1"/>
          <p:nvPr/>
        </p:nvSpPr>
        <p:spPr>
          <a:xfrm>
            <a:off x="1097280" y="427939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Quiet attacks are missed, a Random Forest does as well, and live hardware deployment is future work.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IoT Networks with a Lightweight Gateway IDS</dc:title>
  <dc:subject>PptxGenJS Presentation</dc:subject>
  <dc:creator>Aayushman, Ashutosh Kumar, Sahil Mengji</dc:creator>
  <cp:lastModifiedBy>Aayushman, Ashutosh Kumar, Sahil Mengji</cp:lastModifiedBy>
  <cp:revision>1</cp:revision>
  <dcterms:created xsi:type="dcterms:W3CDTF">2026-10-01T09:20:43Z</dcterms:created>
  <dcterms:modified xsi:type="dcterms:W3CDTF">2026-10-01T09:20:43Z</dcterms:modified>
</cp:coreProperties>
</file>