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00000"/>
                </a:solidFill>
                <a:latin typeface="Arial"/>
              </a:defRPr>
            </a:pPr>
            <a:r>
              <a:rPr sz="1200" b="0" i="0" u="none" strike="noStrike">
                <a:solidFill>
                  <a:srgbClr val="000000"/>
                </a:solidFill>
                <a:latin typeface="Arial"/>
              </a:rPr>
              <a:t>Score (%)</a:t>
            </a:r>
          </a:p>
        </c:rich>
      </c:tx>
      <c:layout/>
      <c:overlay val="0"/>
    </c:title>
    <c:autoTitleDeleted val="0"/>
    <c:plotArea>
      <c:layout/>
      <c:barChart>
        <c:barDir val="col"/>
        <c:grouping val="clustered"/>
        <c:varyColors val="0"/>
        <c:ser>
          <c:idx val="0"/>
          <c:order val="0"/>
          <c:tx>
            <c:strRef>
              <c:f>Sheet1!$B$1</c:f>
              <c:strCache>
                <c:ptCount val="1"/>
                <c:pt idx="0">
                  <c:v>Paper</c:v>
                </c:pt>
              </c:strCache>
            </c:strRef>
          </c:tx>
          <c:spPr>
            <a:solidFill>
              <a:srgbClr val="5B6472"/>
            </a:solidFill>
            <a:effectLst/>
          </c:spPr>
          <c:invertIfNegative val="0"/>
          <c:dLbls>
            <c:numFmt formatCode="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Sheet1!$A$2:$A$3</c:f>
              <c:multiLvlStrCache>
                <c:ptCount val="2"/>
                <c:lvl>
                  <c:pt idx="0">
                    <c:v>Accuracy</c:v>
                  </c:pt>
                  <c:pt idx="1">
                    <c:v>F1 (weighted)</c:v>
                  </c:pt>
                </c:lvl>
              </c:multiLvlStrCache>
            </c:multiLvlStrRef>
          </c:cat>
          <c:val>
            <c:numRef>
              <c:f>Sheet1!$B$2:$B$3</c:f>
              <c:numCache>
                <c:formatCode>General</c:formatCode>
                <c:ptCount val="2"/>
                <c:pt idx="0">
                  <c:v>98.42</c:v>
                </c:pt>
                <c:pt idx="1">
                  <c:v>98.57</c:v>
                </c:pt>
              </c:numCache>
            </c:numRef>
          </c:val>
        </c:ser>
        <c:ser>
          <c:idx val="1"/>
          <c:order val="1"/>
          <c:tx>
            <c:strRef>
              <c:f>Sheet1!$C$1</c:f>
              <c:strCache>
                <c:ptCount val="1"/>
                <c:pt idx="0">
                  <c:v>Ours</c:v>
                </c:pt>
              </c:strCache>
            </c:strRef>
          </c:tx>
          <c:spPr>
            <a:solidFill>
              <a:srgbClr val="C0392B"/>
            </a:solidFill>
            <a:effectLst/>
          </c:spPr>
          <c:invertIfNegative val="0"/>
          <c:dLbls>
            <c:numFmt formatCode="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Sheet1!$A$2:$A$3</c:f>
              <c:multiLvlStrCache>
                <c:ptCount val="2"/>
                <c:lvl>
                  <c:pt idx="0">
                    <c:v>Accuracy</c:v>
                  </c:pt>
                  <c:pt idx="1">
                    <c:v>F1 (weighted)</c:v>
                  </c:pt>
                </c:lvl>
              </c:multiLvlStrCache>
            </c:multiLvlStrRef>
          </c:cat>
          <c:val>
            <c:numRef>
              <c:f>Sheet1!$C$2:$C$3</c:f>
              <c:numCache>
                <c:formatCode>General</c:formatCode>
                <c:ptCount val="2"/>
                <c:pt idx="0">
                  <c:v>98.74</c:v>
                </c:pt>
                <c:pt idx="1">
                  <c:v>98.86</c:v>
                </c:pt>
              </c:numCache>
            </c:numRef>
          </c:val>
        </c:ser>
        <c:dLbls>
          <c:numFmt formatCode="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0"/>
          <c:min val="97"/>
        </c:scaling>
        <c:delete val="0"/>
        <c:axPos val="l"/>
        <c:majorGridlines>
          <c:spPr>
            <a:ln w="6350" cap="flat">
              <a:solidFill>
                <a:srgbClr val="E5E7EB"/>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00000"/>
                </a:solidFill>
                <a:latin typeface="Arial"/>
              </a:defRPr>
            </a:pPr>
            <a:r>
              <a:rPr sz="1200" b="0" i="0" u="none" strike="noStrike">
                <a:solidFill>
                  <a:srgbClr val="000000"/>
                </a:solidFill>
                <a:latin typeface="Arial"/>
              </a:rPr>
              <a:t>Matthews correlation coefficient (test set)</a:t>
            </a:r>
          </a:p>
        </c:rich>
      </c:tx>
      <c:layout/>
      <c:overlay val="0"/>
    </c:title>
    <c:autoTitleDeleted val="0"/>
    <c:plotArea>
      <c:layout/>
      <c:barChart>
        <c:barDir val="bar"/>
        <c:grouping val="clustered"/>
        <c:varyColors val="0"/>
        <c:ser>
          <c:idx val="0"/>
          <c:order val="0"/>
          <c:tx>
            <c:strRef>
              <c:f>Sheet1!$B$1</c:f>
              <c:strCache>
                <c:ptCount val="1"/>
                <c:pt idx="0">
                  <c:v>MCC</c:v>
                </c:pt>
              </c:strCache>
            </c:strRef>
          </c:tx>
          <c:spPr>
            <a:solidFill>
              <a:srgbClr val="0E8C80"/>
            </a:solidFill>
            <a:effectLst/>
          </c:spPr>
          <c:invertIfNegative val="0"/>
          <c:dLbls>
            <c:numFmt formatCode="0.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Random Forest</c:v>
                  </c:pt>
                  <c:pt idx="1">
                    <c:v>CNN</c:v>
                  </c:pt>
                  <c:pt idx="2">
                    <c:v>MLP</c:v>
                  </c:pt>
                  <c:pt idx="3">
                    <c:v>CNN-LSTM</c:v>
                  </c:pt>
                  <c:pt idx="4">
                    <c:v>LSTM</c:v>
                  </c:pt>
                  <c:pt idx="5">
                    <c:v>Always malicious</c:v>
                  </c:pt>
                </c:lvl>
              </c:multiLvlStrCache>
            </c:multiLvlStrRef>
          </c:cat>
          <c:val>
            <c:numRef>
              <c:f>Sheet1!$B$2:$B$7</c:f>
              <c:numCache>
                <c:formatCode>General</c:formatCode>
                <c:ptCount val="6"/>
                <c:pt idx="0">
                  <c:v>0.93</c:v>
                </c:pt>
                <c:pt idx="1">
                  <c:v>0.826</c:v>
                </c:pt>
                <c:pt idx="2">
                  <c:v>0.823</c:v>
                </c:pt>
                <c:pt idx="3">
                  <c:v>0.818</c:v>
                </c:pt>
                <c:pt idx="4">
                  <c:v>0.807</c:v>
                </c:pt>
                <c:pt idx="5">
                  <c:v>0</c:v>
                </c:pt>
              </c:numCache>
            </c:numRef>
          </c:val>
        </c:ser>
        <c:dLbls>
          <c:numFmt formatCode="0.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6350"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reproduces a published CNN-LSTM intrusion detection system for IoT networks and checks whether its reported 98.42% accuracy holds up on the CICIoT2023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claims 98.42% accuracy for binary benign-vs-malicious detection. Our five goals: rebuild the model, train it on the real dataset, get a working detector, compare metrics with the paper, and document every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about 2.7% of flows are benign. That matters: a model that always says 'malicious' already gets 97.34% accuracy, so accuracy alone cannot tell us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Duplicates were dropped before the split so the same flow can never appear in both training and test data. Every statistic the model learns from is computed on training data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read the layer shapes from the paper's architecture figure. The LSTM does not see time here: it reads the 16 numbers produced by the CNN as a short sequence. Hyperparameters the paper does not give are marked as assumptions in config.py.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ran in WSL2 on the laptop GPU. The run is resumable: after an earlier crash we added per-epoch checkpoints and memory fixes, and peak RAM stayed below 3 GB.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accuracy is 0.32 points above the paper. Our false positive rate is far lower than the paper's 9.17%, because we weighted the rare benign class; the price is that most of our errors are missed attacks.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and F1 land within a third of a point of the paper. Precision and recall are only in the paper's full-text table, which we could not access, so we do not compare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Always predicting malicious scores 97% accuracy but MCC zero. By MCC, the LSTM branch adds nothing over the CNN alone on this data, and a plain Random Forest trained on 300k rows beats every neural model. The paper did not compare against tree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is excellent on high-volume floods and weak on low-volume attacks. These are rare in the data and their flow statistics resemble benign traffic, so class weighting pushes them to 'benign'.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extra experiments: a decision threshold chosen on validation data, and training without class weights, which is probably closer to the paper's setup. Both cut missed attacks sharply at the cost of more false alarms. The unweighted model has the best MCC, and its false positive rate is close to the paper's 9.17%.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Fold-to-fold spread is tiny. Quantized to int8, the model is 0.20 MB and classifies a flow in 0.037 ms on a CPU with no accuracy loss (float32 TFLite: 0.42 MB).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these is a mistake in either work; they are choices the paper does not specify. Removing duplicates before splitting is the one we consider most important for an honest test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reproduced the paper's headline result, showed why accuracy alone is misleading on this data, and found that simpler models are at least as good. Code, figures and results are all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548640" y="960120"/>
            <a:ext cx="8046720" cy="73152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IoT Network Intrusion Detection</a:t>
            </a:r>
            <a:endParaRPr lang="en-US" sz="3600" dirty="0"/>
          </a:p>
        </p:txBody>
      </p:sp>
      <p:sp>
        <p:nvSpPr>
          <p:cNvPr id="3" name="Text 1"/>
          <p:cNvSpPr txBox="1"/>
          <p:nvPr/>
        </p:nvSpPr>
        <p:spPr>
          <a:xfrm>
            <a:off x="548640" y="1691640"/>
            <a:ext cx="8046720" cy="457200"/>
          </a:xfrm>
          <a:prstGeom prst="rect">
            <a:avLst/>
          </a:prstGeom>
          <a:noFill/>
          <a:ln/>
        </p:spPr>
        <p:txBody>
          <a:bodyPr wrap="square" lIns="0" tIns="0" rIns="0" bIns="0" rtlCol="0" anchor="ctr"/>
          <a:lstStyle/>
          <a:p>
            <a:pPr indent="0" marL="0">
              <a:buNone/>
            </a:pPr>
            <a:r>
              <a:rPr lang="en-US" sz="2000" dirty="0">
                <a:solidFill>
                  <a:srgbClr val="9FE3DA"/>
                </a:solidFill>
                <a:latin typeface="Calibri" pitchFamily="34" charset="0"/>
                <a:ea typeface="Calibri" pitchFamily="34" charset="-122"/>
                <a:cs typeface="Calibri" pitchFamily="34" charset="-120"/>
              </a:rPr>
              <a:t>Reproducing a CNN-LSTM intrusion detection system on CICIoT2023</a:t>
            </a:r>
            <a:endParaRPr lang="en-US" sz="2000" dirty="0"/>
          </a:p>
        </p:txBody>
      </p:sp>
      <p:sp>
        <p:nvSpPr>
          <p:cNvPr id="4" name="Text 2"/>
          <p:cNvSpPr txBox="1"/>
          <p:nvPr/>
        </p:nvSpPr>
        <p:spPr>
          <a:xfrm>
            <a:off x="548640" y="2377440"/>
            <a:ext cx="7863840" cy="548640"/>
          </a:xfrm>
          <a:prstGeom prst="rect">
            <a:avLst/>
          </a:prstGeom>
          <a:noFill/>
          <a:ln/>
        </p:spPr>
        <p:txBody>
          <a:bodyPr wrap="square" lIns="0" tIns="0" rIns="0" bIns="0" rtlCol="0" anchor="ctr"/>
          <a:lstStyle/>
          <a:p>
            <a:pPr indent="0" marL="0">
              <a:buNone/>
            </a:pPr>
            <a:r>
              <a:rPr lang="en-US" sz="1200" dirty="0">
                <a:solidFill>
                  <a:srgbClr val="C9D3DD"/>
                </a:solidFill>
                <a:latin typeface="Calibri" pitchFamily="34" charset="0"/>
                <a:ea typeface="Calibri" pitchFamily="34" charset="-122"/>
                <a:cs typeface="Calibri" pitchFamily="34" charset="-120"/>
              </a:rPr>
              <a:t>Paper: Gueriani, Kheddar &amp; Mazari, "Enhancing IoT Security with CNN and LSTM-Based Intrusion Detection Systems", IEEE PAIS 2024 (DOI 10.1109/PAIS62114.2024.10541178)</a:t>
            </a:r>
            <a:endParaRPr lang="en-US" sz="1200" dirty="0"/>
          </a:p>
        </p:txBody>
      </p:sp>
      <p:sp>
        <p:nvSpPr>
          <p:cNvPr id="5" name="Text 3"/>
          <p:cNvSpPr txBox="1"/>
          <p:nvPr/>
        </p:nvSpPr>
        <p:spPr>
          <a:xfrm>
            <a:off x="548640" y="3246120"/>
            <a:ext cx="4572000" cy="1005840"/>
          </a:xfrm>
          <a:prstGeom prst="rect">
            <a:avLst/>
          </a:prstGeom>
          <a:noFill/>
          <a:ln/>
        </p:spPr>
        <p:txBody>
          <a:bodyPr wrap="square" lIns="0" tIns="0" rIns="0" bIns="0" rtlCol="0" anchor="ctr"/>
          <a:lstStyle/>
          <a:p>
            <a:pPr indent="0" marL="0">
              <a:spcAft>
                <a:spcPts val="400"/>
              </a:spcAft>
              <a:buNone/>
            </a:pPr>
            <a:r>
              <a:rPr lang="en-US" sz="1500" dirty="0">
                <a:solidFill>
                  <a:srgbClr val="FFFFFF"/>
                </a:solidFill>
                <a:latin typeface="Calibri" pitchFamily="34" charset="0"/>
                <a:ea typeface="Calibri" pitchFamily="34" charset="-122"/>
                <a:cs typeface="Calibri" pitchFamily="34" charset="-120"/>
              </a:rPr>
              <a:t>Aayushman (231CS105)</a:t>
            </a:r>
            <a:endParaRPr lang="en-US" sz="1500" dirty="0"/>
          </a:p>
          <a:p>
            <a:pPr indent="0" marL="0">
              <a:spcAft>
                <a:spcPts val="400"/>
              </a:spcAft>
              <a:buNone/>
            </a:pPr>
            <a:r>
              <a:rPr lang="en-US" sz="1500" dirty="0">
                <a:solidFill>
                  <a:srgbClr val="FFFFFF"/>
                </a:solidFill>
                <a:latin typeface="Calibri" pitchFamily="34" charset="0"/>
                <a:ea typeface="Calibri" pitchFamily="34" charset="-122"/>
                <a:cs typeface="Calibri" pitchFamily="34" charset="-120"/>
              </a:rPr>
              <a:t>Ashutosh Kumar (231CS113)</a:t>
            </a:r>
            <a:endParaRPr lang="en-US" sz="1500" dirty="0"/>
          </a:p>
          <a:p>
            <a:pPr indent="0" marL="0">
              <a:spcAft>
                <a:spcPts val="400"/>
              </a:spcAft>
              <a:buNone/>
            </a:pPr>
            <a:r>
              <a:rPr lang="en-US" sz="1500" dirty="0">
                <a:solidFill>
                  <a:srgbClr val="FFFFFF"/>
                </a:solidFill>
                <a:latin typeface="Calibri" pitchFamily="34" charset="0"/>
                <a:ea typeface="Calibri" pitchFamily="34" charset="-122"/>
                <a:cs typeface="Calibri" pitchFamily="34" charset="-120"/>
              </a:rPr>
              <a:t>Sahil Mengji (231CS151)</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What we set out to do</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Scientific reproduction and validation, not a new method</a:t>
            </a:r>
            <a:endParaRPr lang="en-US" sz="1300" dirty="0"/>
          </a:p>
        </p:txBody>
      </p:sp>
      <p:sp>
        <p:nvSpPr>
          <p:cNvPr id="4" name="Shape 2"/>
          <p:cNvSpPr/>
          <p:nvPr/>
        </p:nvSpPr>
        <p:spPr>
          <a:xfrm>
            <a:off x="457200" y="1344168"/>
            <a:ext cx="384048" cy="384048"/>
          </a:xfrm>
          <a:prstGeom prst="ellipse">
            <a:avLst/>
          </a:prstGeom>
          <a:solidFill>
            <a:srgbClr val="0E8C80"/>
          </a:solidFill>
          <a:ln w="12700">
            <a:solidFill>
              <a:srgbClr val="0E8C80"/>
            </a:solidFill>
            <a:prstDash val="solid"/>
          </a:ln>
        </p:spPr>
      </p:sp>
      <p:sp>
        <p:nvSpPr>
          <p:cNvPr id="5" name="Text 3"/>
          <p:cNvSpPr txBox="1"/>
          <p:nvPr/>
        </p:nvSpPr>
        <p:spPr>
          <a:xfrm>
            <a:off x="457200" y="13441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005840" y="1325880"/>
            <a:ext cx="4206240" cy="27432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Rebuild the architecture</a:t>
            </a:r>
            <a:endParaRPr lang="en-US" sz="1400" dirty="0"/>
          </a:p>
        </p:txBody>
      </p:sp>
      <p:sp>
        <p:nvSpPr>
          <p:cNvPr id="7" name="Text 5"/>
          <p:cNvSpPr txBox="1"/>
          <p:nvPr/>
        </p:nvSpPr>
        <p:spPr>
          <a:xfrm>
            <a:off x="1005840" y="1600200"/>
            <a:ext cx="4206240" cy="27432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CNN-LSTM exactly as drawn in the paper's Fig. 2</a:t>
            </a:r>
            <a:endParaRPr lang="en-US" sz="1200" dirty="0"/>
          </a:p>
        </p:txBody>
      </p:sp>
      <p:sp>
        <p:nvSpPr>
          <p:cNvPr id="8" name="Shape 6"/>
          <p:cNvSpPr/>
          <p:nvPr/>
        </p:nvSpPr>
        <p:spPr>
          <a:xfrm>
            <a:off x="457200" y="2002536"/>
            <a:ext cx="384048" cy="384048"/>
          </a:xfrm>
          <a:prstGeom prst="ellipse">
            <a:avLst/>
          </a:prstGeom>
          <a:solidFill>
            <a:srgbClr val="0E8C80"/>
          </a:solidFill>
          <a:ln w="12700">
            <a:solidFill>
              <a:srgbClr val="0E8C80"/>
            </a:solidFill>
            <a:prstDash val="solid"/>
          </a:ln>
        </p:spPr>
      </p:sp>
      <p:sp>
        <p:nvSpPr>
          <p:cNvPr id="9" name="Text 7"/>
          <p:cNvSpPr txBox="1"/>
          <p:nvPr/>
        </p:nvSpPr>
        <p:spPr>
          <a:xfrm>
            <a:off x="457200" y="20025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1005840" y="1984248"/>
            <a:ext cx="4206240" cy="27432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Train on real IoT traffic</a:t>
            </a:r>
            <a:endParaRPr lang="en-US" sz="1400" dirty="0"/>
          </a:p>
        </p:txBody>
      </p:sp>
      <p:sp>
        <p:nvSpPr>
          <p:cNvPr id="11" name="Text 9"/>
          <p:cNvSpPr txBox="1"/>
          <p:nvPr/>
        </p:nvSpPr>
        <p:spPr>
          <a:xfrm>
            <a:off x="1005840" y="2258568"/>
            <a:ext cx="4206240" cy="27432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CICIoT2023: 105 devices, benign traffic + 33 attack types</a:t>
            </a:r>
            <a:endParaRPr lang="en-US" sz="1200" dirty="0"/>
          </a:p>
        </p:txBody>
      </p:sp>
      <p:sp>
        <p:nvSpPr>
          <p:cNvPr id="12" name="Shape 10"/>
          <p:cNvSpPr/>
          <p:nvPr/>
        </p:nvSpPr>
        <p:spPr>
          <a:xfrm>
            <a:off x="457200" y="2660904"/>
            <a:ext cx="384048" cy="384048"/>
          </a:xfrm>
          <a:prstGeom prst="ellipse">
            <a:avLst/>
          </a:prstGeom>
          <a:solidFill>
            <a:srgbClr val="0E8C80"/>
          </a:solidFill>
          <a:ln w="12700">
            <a:solidFill>
              <a:srgbClr val="0E8C80"/>
            </a:solidFill>
            <a:prstDash val="solid"/>
          </a:ln>
        </p:spPr>
      </p:sp>
      <p:sp>
        <p:nvSpPr>
          <p:cNvPr id="13" name="Text 11"/>
          <p:cNvSpPr txBox="1"/>
          <p:nvPr/>
        </p:nvSpPr>
        <p:spPr>
          <a:xfrm>
            <a:off x="457200" y="26609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4" name="Text 12"/>
          <p:cNvSpPr txBox="1"/>
          <p:nvPr/>
        </p:nvSpPr>
        <p:spPr>
          <a:xfrm>
            <a:off x="1005840" y="2642616"/>
            <a:ext cx="4206240" cy="27432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Detect benign vs malicious</a:t>
            </a:r>
            <a:endParaRPr lang="en-US" sz="1400" dirty="0"/>
          </a:p>
        </p:txBody>
      </p:sp>
      <p:sp>
        <p:nvSpPr>
          <p:cNvPr id="15" name="Text 13"/>
          <p:cNvSpPr txBox="1"/>
          <p:nvPr/>
        </p:nvSpPr>
        <p:spPr>
          <a:xfrm>
            <a:off x="1005840" y="2916936"/>
            <a:ext cx="4206240" cy="27432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Binary classification of network flows</a:t>
            </a:r>
            <a:endParaRPr lang="en-US" sz="1200" dirty="0"/>
          </a:p>
        </p:txBody>
      </p:sp>
      <p:sp>
        <p:nvSpPr>
          <p:cNvPr id="16" name="Shape 14"/>
          <p:cNvSpPr/>
          <p:nvPr/>
        </p:nvSpPr>
        <p:spPr>
          <a:xfrm>
            <a:off x="457200" y="3319272"/>
            <a:ext cx="384048" cy="384048"/>
          </a:xfrm>
          <a:prstGeom prst="ellipse">
            <a:avLst/>
          </a:prstGeom>
          <a:solidFill>
            <a:srgbClr val="0E8C80"/>
          </a:solidFill>
          <a:ln w="12700">
            <a:solidFill>
              <a:srgbClr val="0E8C80"/>
            </a:solidFill>
            <a:prstDash val="solid"/>
          </a:ln>
        </p:spPr>
      </p:sp>
      <p:sp>
        <p:nvSpPr>
          <p:cNvPr id="17" name="Text 15"/>
          <p:cNvSpPr txBox="1"/>
          <p:nvPr/>
        </p:nvSpPr>
        <p:spPr>
          <a:xfrm>
            <a:off x="457200" y="33192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8" name="Text 16"/>
          <p:cNvSpPr txBox="1"/>
          <p:nvPr/>
        </p:nvSpPr>
        <p:spPr>
          <a:xfrm>
            <a:off x="1005840" y="3300984"/>
            <a:ext cx="4206240" cy="27432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Compare with the paper</a:t>
            </a:r>
            <a:endParaRPr lang="en-US" sz="1400" dirty="0"/>
          </a:p>
        </p:txBody>
      </p:sp>
      <p:sp>
        <p:nvSpPr>
          <p:cNvPr id="19" name="Text 17"/>
          <p:cNvSpPr txBox="1"/>
          <p:nvPr/>
        </p:nvSpPr>
        <p:spPr>
          <a:xfrm>
            <a:off x="1005840" y="3575304"/>
            <a:ext cx="4206240" cy="27432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Accuracy, precision, recall, F1 vs the reported 98.42%</a:t>
            </a:r>
            <a:endParaRPr lang="en-US" sz="1200" dirty="0"/>
          </a:p>
        </p:txBody>
      </p:sp>
      <p:sp>
        <p:nvSpPr>
          <p:cNvPr id="20" name="Shape 18"/>
          <p:cNvSpPr/>
          <p:nvPr/>
        </p:nvSpPr>
        <p:spPr>
          <a:xfrm>
            <a:off x="457200" y="3977640"/>
            <a:ext cx="384048" cy="384048"/>
          </a:xfrm>
          <a:prstGeom prst="ellipse">
            <a:avLst/>
          </a:prstGeom>
          <a:solidFill>
            <a:srgbClr val="0E8C80"/>
          </a:solidFill>
          <a:ln w="12700">
            <a:solidFill>
              <a:srgbClr val="0E8C80"/>
            </a:solidFill>
            <a:prstDash val="solid"/>
          </a:ln>
        </p:spPr>
      </p:sp>
      <p:sp>
        <p:nvSpPr>
          <p:cNvPr id="21" name="Text 19"/>
          <p:cNvSpPr txBox="1"/>
          <p:nvPr/>
        </p:nvSpPr>
        <p:spPr>
          <a:xfrm>
            <a:off x="457200" y="39776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22" name="Text 20"/>
          <p:cNvSpPr txBox="1"/>
          <p:nvPr/>
        </p:nvSpPr>
        <p:spPr>
          <a:xfrm>
            <a:off x="1005840" y="3959352"/>
            <a:ext cx="4206240" cy="27432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Document every deviation</a:t>
            </a:r>
            <a:endParaRPr lang="en-US" sz="1400" dirty="0"/>
          </a:p>
        </p:txBody>
      </p:sp>
      <p:sp>
        <p:nvSpPr>
          <p:cNvPr id="23" name="Text 21"/>
          <p:cNvSpPr txBox="1"/>
          <p:nvPr/>
        </p:nvSpPr>
        <p:spPr>
          <a:xfrm>
            <a:off x="1005840" y="4233672"/>
            <a:ext cx="4206240" cy="27432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What differs, and why the numbers might differ</a:t>
            </a:r>
            <a:endParaRPr lang="en-US" sz="1200" dirty="0"/>
          </a:p>
        </p:txBody>
      </p:sp>
      <p:sp>
        <p:nvSpPr>
          <p:cNvPr id="24" name="Shape 22"/>
          <p:cNvSpPr/>
          <p:nvPr/>
        </p:nvSpPr>
        <p:spPr>
          <a:xfrm>
            <a:off x="5669280" y="1325880"/>
            <a:ext cx="3017520" cy="3108960"/>
          </a:xfrm>
          <a:prstGeom prst="roundRect">
            <a:avLst>
              <a:gd name="adj" fmla="val 2424"/>
            </a:avLst>
          </a:prstGeom>
          <a:solidFill>
            <a:srgbClr val="0F1B2D"/>
          </a:solidFill>
          <a:ln w="12700">
            <a:solidFill>
              <a:srgbClr val="0F1B2D"/>
            </a:solidFill>
            <a:prstDash val="solid"/>
          </a:ln>
        </p:spPr>
      </p:sp>
      <p:sp>
        <p:nvSpPr>
          <p:cNvPr id="25" name="Text 23"/>
          <p:cNvSpPr txBox="1"/>
          <p:nvPr/>
        </p:nvSpPr>
        <p:spPr>
          <a:xfrm>
            <a:off x="5852160" y="1691640"/>
            <a:ext cx="2651760" cy="822960"/>
          </a:xfrm>
          <a:prstGeom prst="rect">
            <a:avLst/>
          </a:prstGeom>
          <a:noFill/>
          <a:ln/>
        </p:spPr>
        <p:txBody>
          <a:bodyPr wrap="square" lIns="0" tIns="0" rIns="0" bIns="0" rtlCol="0" anchor="ctr"/>
          <a:lstStyle/>
          <a:p>
            <a:pPr algn="ctr" indent="0" marL="0">
              <a:buNone/>
            </a:pPr>
            <a:r>
              <a:rPr lang="en-US" sz="4800" b="1" dirty="0">
                <a:solidFill>
                  <a:srgbClr val="9FE3DA"/>
                </a:solidFill>
                <a:latin typeface="Arial" pitchFamily="34" charset="0"/>
                <a:ea typeface="Arial" pitchFamily="34" charset="-122"/>
                <a:cs typeface="Arial" pitchFamily="34" charset="-120"/>
              </a:rPr>
              <a:t>98.42%</a:t>
            </a:r>
            <a:endParaRPr lang="en-US" sz="4800" dirty="0"/>
          </a:p>
        </p:txBody>
      </p:sp>
      <p:sp>
        <p:nvSpPr>
          <p:cNvPr id="26" name="Text 24"/>
          <p:cNvSpPr txBox="1"/>
          <p:nvPr/>
        </p:nvSpPr>
        <p:spPr>
          <a:xfrm>
            <a:off x="5897880" y="2560320"/>
            <a:ext cx="2560320" cy="64008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accuracy reported by the paper on CICIoT2023 (binary)</a:t>
            </a:r>
            <a:endParaRPr lang="en-US" sz="1300" dirty="0"/>
          </a:p>
        </p:txBody>
      </p:sp>
      <p:sp>
        <p:nvSpPr>
          <p:cNvPr id="27" name="Text 25"/>
          <p:cNvSpPr txBox="1"/>
          <p:nvPr/>
        </p:nvSpPr>
        <p:spPr>
          <a:xfrm>
            <a:off x="5897880" y="3337560"/>
            <a:ext cx="2560320" cy="731520"/>
          </a:xfrm>
          <a:prstGeom prst="rect">
            <a:avLst/>
          </a:prstGeom>
          <a:noFill/>
          <a:ln/>
        </p:spPr>
        <p:txBody>
          <a:bodyPr wrap="square" lIns="0" tIns="0" rIns="0" bIns="0" rtlCol="0" anchor="ctr"/>
          <a:lstStyle/>
          <a:p>
            <a:pPr algn="ctr" indent="0" marL="0">
              <a:buNone/>
            </a:pPr>
            <a:r>
              <a:rPr lang="en-US" sz="1100" dirty="0">
                <a:solidFill>
                  <a:srgbClr val="C9D3DD"/>
                </a:solidFill>
                <a:latin typeface="Calibri" pitchFamily="34" charset="0"/>
                <a:ea typeface="Calibri" pitchFamily="34" charset="-122"/>
                <a:cs typeface="Calibri" pitchFamily="34" charset="-120"/>
              </a:rPr>
              <a:t>Published abstract also reports F1 98.57%, FPR 9.17%, loss 0.0275</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CICIoT2023: heavily skewed toward attacks</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Canadian Institute for Cybersecurity, UNB - original 46-feature release</a:t>
            </a:r>
            <a:endParaRPr lang="en-US" sz="1300" dirty="0"/>
          </a:p>
        </p:txBody>
      </p:sp>
      <p:sp>
        <p:nvSpPr>
          <p:cNvPr id="4" name="Text 2"/>
          <p:cNvSpPr txBox="1"/>
          <p:nvPr/>
        </p:nvSpPr>
        <p:spPr>
          <a:xfrm>
            <a:off x="457200" y="1234440"/>
            <a:ext cx="1920240" cy="548640"/>
          </a:xfrm>
          <a:prstGeom prst="rect">
            <a:avLst/>
          </a:prstGeom>
          <a:noFill/>
          <a:ln/>
        </p:spPr>
        <p:txBody>
          <a:bodyPr wrap="square" lIns="0" tIns="0" rIns="0" bIns="0" rtlCol="0" anchor="ctr"/>
          <a:lstStyle/>
          <a:p>
            <a:pPr indent="0" marL="0">
              <a:buNone/>
            </a:pPr>
            <a:r>
              <a:rPr lang="en-US" sz="3000" b="1" dirty="0">
                <a:solidFill>
                  <a:srgbClr val="0E8C80"/>
                </a:solidFill>
                <a:latin typeface="Arial" pitchFamily="34" charset="0"/>
                <a:ea typeface="Arial" pitchFamily="34" charset="-122"/>
                <a:cs typeface="Arial" pitchFamily="34" charset="-120"/>
              </a:rPr>
              <a:t>105</a:t>
            </a:r>
            <a:endParaRPr lang="en-US" sz="3000" dirty="0"/>
          </a:p>
        </p:txBody>
      </p:sp>
      <p:sp>
        <p:nvSpPr>
          <p:cNvPr id="5" name="Text 3"/>
          <p:cNvSpPr txBox="1"/>
          <p:nvPr/>
        </p:nvSpPr>
        <p:spPr>
          <a:xfrm>
            <a:off x="457200" y="1783080"/>
            <a:ext cx="1920240" cy="4114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IoT devices in the testbed</a:t>
            </a:r>
            <a:endParaRPr lang="en-US" sz="1150" dirty="0"/>
          </a:p>
        </p:txBody>
      </p:sp>
      <p:sp>
        <p:nvSpPr>
          <p:cNvPr id="6" name="Text 4"/>
          <p:cNvSpPr txBox="1"/>
          <p:nvPr/>
        </p:nvSpPr>
        <p:spPr>
          <a:xfrm>
            <a:off x="2560320" y="1234440"/>
            <a:ext cx="1920240" cy="548640"/>
          </a:xfrm>
          <a:prstGeom prst="rect">
            <a:avLst/>
          </a:prstGeom>
          <a:noFill/>
          <a:ln/>
        </p:spPr>
        <p:txBody>
          <a:bodyPr wrap="square" lIns="0" tIns="0" rIns="0" bIns="0" rtlCol="0" anchor="ctr"/>
          <a:lstStyle/>
          <a:p>
            <a:pPr indent="0" marL="0">
              <a:buNone/>
            </a:pPr>
            <a:r>
              <a:rPr lang="en-US" sz="3000" b="1" dirty="0">
                <a:solidFill>
                  <a:srgbClr val="0E8C80"/>
                </a:solidFill>
                <a:latin typeface="Arial" pitchFamily="34" charset="0"/>
                <a:ea typeface="Arial" pitchFamily="34" charset="-122"/>
                <a:cs typeface="Arial" pitchFamily="34" charset="-120"/>
              </a:rPr>
              <a:t>33</a:t>
            </a:r>
            <a:endParaRPr lang="en-US" sz="3000" dirty="0"/>
          </a:p>
        </p:txBody>
      </p:sp>
      <p:sp>
        <p:nvSpPr>
          <p:cNvPr id="7" name="Text 5"/>
          <p:cNvSpPr txBox="1"/>
          <p:nvPr/>
        </p:nvSpPr>
        <p:spPr>
          <a:xfrm>
            <a:off x="2560320" y="1783080"/>
            <a:ext cx="1920240" cy="4114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attack types in 7 families</a:t>
            </a:r>
            <a:endParaRPr lang="en-US" sz="1150" dirty="0"/>
          </a:p>
        </p:txBody>
      </p:sp>
      <p:sp>
        <p:nvSpPr>
          <p:cNvPr id="8" name="Text 6"/>
          <p:cNvSpPr txBox="1"/>
          <p:nvPr/>
        </p:nvSpPr>
        <p:spPr>
          <a:xfrm>
            <a:off x="4663440" y="1234440"/>
            <a:ext cx="1920240" cy="548640"/>
          </a:xfrm>
          <a:prstGeom prst="rect">
            <a:avLst/>
          </a:prstGeom>
          <a:noFill/>
          <a:ln/>
        </p:spPr>
        <p:txBody>
          <a:bodyPr wrap="square" lIns="0" tIns="0" rIns="0" bIns="0" rtlCol="0" anchor="ctr"/>
          <a:lstStyle/>
          <a:p>
            <a:pPr indent="0" marL="0">
              <a:buNone/>
            </a:pPr>
            <a:r>
              <a:rPr lang="en-US" sz="3000" b="1" dirty="0">
                <a:solidFill>
                  <a:srgbClr val="0E8C80"/>
                </a:solidFill>
                <a:latin typeface="Arial" pitchFamily="34" charset="0"/>
                <a:ea typeface="Arial" pitchFamily="34" charset="-122"/>
                <a:cs typeface="Arial" pitchFamily="34" charset="-120"/>
              </a:rPr>
              <a:t>7.85M</a:t>
            </a:r>
            <a:endParaRPr lang="en-US" sz="3000" dirty="0"/>
          </a:p>
        </p:txBody>
      </p:sp>
      <p:sp>
        <p:nvSpPr>
          <p:cNvPr id="9" name="Text 7"/>
          <p:cNvSpPr txBox="1"/>
          <p:nvPr/>
        </p:nvSpPr>
        <p:spPr>
          <a:xfrm>
            <a:off x="4663440" y="1783080"/>
            <a:ext cx="1920240" cy="4114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flows in the files we used</a:t>
            </a:r>
            <a:endParaRPr lang="en-US" sz="1150" dirty="0"/>
          </a:p>
        </p:txBody>
      </p:sp>
      <p:sp>
        <p:nvSpPr>
          <p:cNvPr id="10" name="Text 8"/>
          <p:cNvSpPr txBox="1"/>
          <p:nvPr/>
        </p:nvSpPr>
        <p:spPr>
          <a:xfrm>
            <a:off x="6766560" y="1234440"/>
            <a:ext cx="1920240" cy="548640"/>
          </a:xfrm>
          <a:prstGeom prst="rect">
            <a:avLst/>
          </a:prstGeom>
          <a:noFill/>
          <a:ln/>
        </p:spPr>
        <p:txBody>
          <a:bodyPr wrap="square" lIns="0" tIns="0" rIns="0" bIns="0" rtlCol="0" anchor="ctr"/>
          <a:lstStyle/>
          <a:p>
            <a:pPr indent="0" marL="0">
              <a:buNone/>
            </a:pPr>
            <a:r>
              <a:rPr lang="en-US" sz="3000" b="1" dirty="0">
                <a:solidFill>
                  <a:srgbClr val="C0392B"/>
                </a:solidFill>
                <a:latin typeface="Arial" pitchFamily="34" charset="0"/>
                <a:ea typeface="Arial" pitchFamily="34" charset="-122"/>
                <a:cs typeface="Arial" pitchFamily="34" charset="-120"/>
              </a:rPr>
              <a:t>97.3%</a:t>
            </a:r>
            <a:endParaRPr lang="en-US" sz="3000" dirty="0"/>
          </a:p>
        </p:txBody>
      </p:sp>
      <p:sp>
        <p:nvSpPr>
          <p:cNvPr id="11" name="Text 9"/>
          <p:cNvSpPr txBox="1"/>
          <p:nvPr/>
        </p:nvSpPr>
        <p:spPr>
          <a:xfrm>
            <a:off x="6766560" y="1783080"/>
            <a:ext cx="1920240" cy="4114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of test flows are attacks</a:t>
            </a:r>
            <a:endParaRPr lang="en-US" sz="1150" dirty="0"/>
          </a:p>
        </p:txBody>
      </p:sp>
      <p:pic>
        <p:nvPicPr>
          <p:cNvPr id="12" name="Image 0" descr="C:\Users\ayush\Desktop\Coding\IDS\iot_ids_cnn_lstm\outputs\figures\01_class_distribution.png">    </p:cNvPr>
          <p:cNvPicPr>
            <a:picLocks noChangeAspect="1"/>
          </p:cNvPicPr>
          <p:nvPr/>
        </p:nvPicPr>
        <p:blipFill>
          <a:blip r:embed="rId1"/>
          <a:stretch>
            <a:fillRect/>
          </a:stretch>
        </p:blipFill>
        <p:spPr>
          <a:xfrm>
            <a:off x="457200" y="2331720"/>
            <a:ext cx="8229600" cy="2314286"/>
          </a:xfrm>
          <a:prstGeom prst="rect">
            <a:avLst/>
          </a:prstGeom>
        </p:spPr>
      </p:pic>
      <p:sp>
        <p:nvSpPr>
          <p:cNvPr id="13" name="Text 10"/>
          <p:cNvSpPr txBox="1"/>
          <p:nvPr/>
        </p:nvSpPr>
        <p:spPr>
          <a:xfrm>
            <a:off x="457200" y="4773168"/>
            <a:ext cx="8229600" cy="22860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Fig 1 - benign vs malicious counts in the full data, our sample, and the train split before/after class weighting.</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A leakage-safe, resumable pipeline</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Each stage saves its outputs and can be re-run on its own</a:t>
            </a:r>
            <a:endParaRPr lang="en-US" sz="1300" dirty="0"/>
          </a:p>
        </p:txBody>
      </p:sp>
      <p:sp>
        <p:nvSpPr>
          <p:cNvPr id="4" name="Shape 2"/>
          <p:cNvSpPr/>
          <p:nvPr/>
        </p:nvSpPr>
        <p:spPr>
          <a:xfrm>
            <a:off x="457200" y="1325880"/>
            <a:ext cx="1234440" cy="1143000"/>
          </a:xfrm>
          <a:prstGeom prst="roundRect">
            <a:avLst>
              <a:gd name="adj" fmla="val 6400"/>
            </a:avLst>
          </a:prstGeom>
          <a:solidFill>
            <a:srgbClr val="F1F5F8"/>
          </a:solidFill>
          <a:ln w="12700">
            <a:solidFill>
              <a:srgbClr val="F1F5F8"/>
            </a:solidFill>
            <a:prstDash val="solid"/>
          </a:ln>
        </p:spPr>
      </p:sp>
      <p:sp>
        <p:nvSpPr>
          <p:cNvPr id="5" name="Text 3"/>
          <p:cNvSpPr txBox="1"/>
          <p:nvPr/>
        </p:nvSpPr>
        <p:spPr>
          <a:xfrm>
            <a:off x="457200" y="1417320"/>
            <a:ext cx="1234440" cy="320040"/>
          </a:xfrm>
          <a:prstGeom prst="rect">
            <a:avLst/>
          </a:prstGeom>
          <a:noFill/>
          <a:ln/>
        </p:spPr>
        <p:txBody>
          <a:bodyPr wrap="square" lIns="0" tIns="0" rIns="0" bIns="0" rtlCol="0" anchor="ctr"/>
          <a:lstStyle/>
          <a:p>
            <a:pPr algn="ctr" indent="0" marL="0">
              <a:buNone/>
            </a:pPr>
            <a:r>
              <a:rPr lang="en-US" sz="1400" b="1" dirty="0">
                <a:solidFill>
                  <a:srgbClr val="0E8C80"/>
                </a:solidFill>
                <a:latin typeface="Arial" pitchFamily="34" charset="0"/>
                <a:ea typeface="Arial" pitchFamily="34" charset="-122"/>
                <a:cs typeface="Arial" pitchFamily="34" charset="-120"/>
              </a:rPr>
              <a:t>prepare</a:t>
            </a:r>
            <a:endParaRPr lang="en-US" sz="1400" dirty="0"/>
          </a:p>
        </p:txBody>
      </p:sp>
      <p:sp>
        <p:nvSpPr>
          <p:cNvPr id="6" name="Text 4"/>
          <p:cNvSpPr txBox="1"/>
          <p:nvPr/>
        </p:nvSpPr>
        <p:spPr>
          <a:xfrm>
            <a:off x="457200" y="1737360"/>
            <a:ext cx="1234440" cy="640080"/>
          </a:xfrm>
          <a:prstGeom prst="rect">
            <a:avLst/>
          </a:prstGeom>
          <a:noFill/>
          <a:ln/>
        </p:spPr>
        <p:txBody>
          <a:bodyPr wrap="square" lIns="0" tIns="0" rIns="0" bIns="0" rtlCol="0" anchor="t"/>
          <a:lstStyle/>
          <a:p>
            <a:pPr algn="ctr" indent="0" marL="0">
              <a:buNone/>
            </a:pPr>
            <a:r>
              <a:rPr lang="en-US" sz="1100" dirty="0">
                <a:solidFill>
                  <a:srgbClr val="1F2937"/>
                </a:solidFill>
                <a:latin typeface="Calibri" pitchFamily="34" charset="0"/>
                <a:ea typeface="Calibri" pitchFamily="34" charset="-122"/>
                <a:cs typeface="Calibri" pitchFamily="34" charset="-120"/>
              </a:rPr>
              <a:t>sample, clean,</a:t>
            </a:r>
            <a:endParaRPr lang="en-US" sz="1100" dirty="0"/>
          </a:p>
          <a:p>
            <a:pPr algn="ctr" indent="0" marL="0">
              <a:buNone/>
            </a:pPr>
            <a:r>
              <a:rPr lang="en-US" sz="1100" dirty="0">
                <a:solidFill>
                  <a:srgbClr val="1F2937"/>
                </a:solidFill>
                <a:latin typeface="Calibri" pitchFamily="34" charset="0"/>
                <a:ea typeface="Calibri" pitchFamily="34" charset="-122"/>
                <a:cs typeface="Calibri" pitchFamily="34" charset="-120"/>
              </a:rPr>
              <a:t>split, scale</a:t>
            </a:r>
            <a:endParaRPr lang="en-US" sz="1100" dirty="0"/>
          </a:p>
        </p:txBody>
      </p:sp>
      <p:sp>
        <p:nvSpPr>
          <p:cNvPr id="7" name="Text 5"/>
          <p:cNvSpPr txBox="1"/>
          <p:nvPr/>
        </p:nvSpPr>
        <p:spPr>
          <a:xfrm>
            <a:off x="1691640" y="1691640"/>
            <a:ext cx="164592" cy="365760"/>
          </a:xfrm>
          <a:prstGeom prst="rect">
            <a:avLst/>
          </a:prstGeom>
          <a:noFill/>
          <a:ln/>
        </p:spPr>
        <p:txBody>
          <a:bodyPr wrap="square" lIns="0" tIns="0" rIns="0" bIns="0" rtlCol="0" anchor="ctr"/>
          <a:lstStyle/>
          <a:p>
            <a:pPr algn="ctr" indent="0" marL="0">
              <a:buNone/>
            </a:pPr>
            <a:r>
              <a:rPr lang="en-US" sz="1600" b="1" dirty="0">
                <a:solidFill>
                  <a:srgbClr val="5B6472"/>
                </a:solidFill>
                <a:latin typeface="Arial" pitchFamily="34" charset="0"/>
                <a:ea typeface="Arial" pitchFamily="34" charset="-122"/>
                <a:cs typeface="Arial" pitchFamily="34" charset="-120"/>
              </a:rPr>
              <a:t>&gt;</a:t>
            </a:r>
            <a:endParaRPr lang="en-US" sz="1600" dirty="0"/>
          </a:p>
        </p:txBody>
      </p:sp>
      <p:sp>
        <p:nvSpPr>
          <p:cNvPr id="8" name="Shape 6"/>
          <p:cNvSpPr/>
          <p:nvPr/>
        </p:nvSpPr>
        <p:spPr>
          <a:xfrm>
            <a:off x="1856232" y="1325880"/>
            <a:ext cx="1234440" cy="1143000"/>
          </a:xfrm>
          <a:prstGeom prst="roundRect">
            <a:avLst>
              <a:gd name="adj" fmla="val 6400"/>
            </a:avLst>
          </a:prstGeom>
          <a:solidFill>
            <a:srgbClr val="0F1B2D"/>
          </a:solidFill>
          <a:ln w="12700">
            <a:solidFill>
              <a:srgbClr val="0F1B2D"/>
            </a:solidFill>
            <a:prstDash val="solid"/>
          </a:ln>
        </p:spPr>
      </p:sp>
      <p:sp>
        <p:nvSpPr>
          <p:cNvPr id="9" name="Text 7"/>
          <p:cNvSpPr txBox="1"/>
          <p:nvPr/>
        </p:nvSpPr>
        <p:spPr>
          <a:xfrm>
            <a:off x="1856232" y="1417320"/>
            <a:ext cx="12344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train</a:t>
            </a:r>
            <a:endParaRPr lang="en-US" sz="1400" dirty="0"/>
          </a:p>
        </p:txBody>
      </p:sp>
      <p:sp>
        <p:nvSpPr>
          <p:cNvPr id="10" name="Text 8"/>
          <p:cNvSpPr txBox="1"/>
          <p:nvPr/>
        </p:nvSpPr>
        <p:spPr>
          <a:xfrm>
            <a:off x="1856232" y="1737360"/>
            <a:ext cx="1234440" cy="64008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CNN-LSTM</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25 epochs</a:t>
            </a:r>
            <a:endParaRPr lang="en-US" sz="1100" dirty="0"/>
          </a:p>
        </p:txBody>
      </p:sp>
      <p:sp>
        <p:nvSpPr>
          <p:cNvPr id="11" name="Text 9"/>
          <p:cNvSpPr txBox="1"/>
          <p:nvPr/>
        </p:nvSpPr>
        <p:spPr>
          <a:xfrm>
            <a:off x="3090672" y="1691640"/>
            <a:ext cx="164592" cy="365760"/>
          </a:xfrm>
          <a:prstGeom prst="rect">
            <a:avLst/>
          </a:prstGeom>
          <a:noFill/>
          <a:ln/>
        </p:spPr>
        <p:txBody>
          <a:bodyPr wrap="square" lIns="0" tIns="0" rIns="0" bIns="0" rtlCol="0" anchor="ctr"/>
          <a:lstStyle/>
          <a:p>
            <a:pPr algn="ctr" indent="0" marL="0">
              <a:buNone/>
            </a:pPr>
            <a:r>
              <a:rPr lang="en-US" sz="1600" b="1" dirty="0">
                <a:solidFill>
                  <a:srgbClr val="5B6472"/>
                </a:solidFill>
                <a:latin typeface="Arial" pitchFamily="34" charset="0"/>
                <a:ea typeface="Arial" pitchFamily="34" charset="-122"/>
                <a:cs typeface="Arial" pitchFamily="34" charset="-120"/>
              </a:rPr>
              <a:t>&gt;</a:t>
            </a:r>
            <a:endParaRPr lang="en-US" sz="1600" dirty="0"/>
          </a:p>
        </p:txBody>
      </p:sp>
      <p:sp>
        <p:nvSpPr>
          <p:cNvPr id="12" name="Shape 10"/>
          <p:cNvSpPr/>
          <p:nvPr/>
        </p:nvSpPr>
        <p:spPr>
          <a:xfrm>
            <a:off x="3255264" y="1325880"/>
            <a:ext cx="1234440" cy="1143000"/>
          </a:xfrm>
          <a:prstGeom prst="roundRect">
            <a:avLst>
              <a:gd name="adj" fmla="val 6400"/>
            </a:avLst>
          </a:prstGeom>
          <a:solidFill>
            <a:srgbClr val="F1F5F8"/>
          </a:solidFill>
          <a:ln w="12700">
            <a:solidFill>
              <a:srgbClr val="F1F5F8"/>
            </a:solidFill>
            <a:prstDash val="solid"/>
          </a:ln>
        </p:spPr>
      </p:sp>
      <p:sp>
        <p:nvSpPr>
          <p:cNvPr id="13" name="Text 11"/>
          <p:cNvSpPr txBox="1"/>
          <p:nvPr/>
        </p:nvSpPr>
        <p:spPr>
          <a:xfrm>
            <a:off x="3255264" y="1417320"/>
            <a:ext cx="1234440" cy="320040"/>
          </a:xfrm>
          <a:prstGeom prst="rect">
            <a:avLst/>
          </a:prstGeom>
          <a:noFill/>
          <a:ln/>
        </p:spPr>
        <p:txBody>
          <a:bodyPr wrap="square" lIns="0" tIns="0" rIns="0" bIns="0" rtlCol="0" anchor="ctr"/>
          <a:lstStyle/>
          <a:p>
            <a:pPr algn="ctr" indent="0" marL="0">
              <a:buNone/>
            </a:pPr>
            <a:r>
              <a:rPr lang="en-US" sz="1400" b="1" dirty="0">
                <a:solidFill>
                  <a:srgbClr val="0E8C80"/>
                </a:solidFill>
                <a:latin typeface="Arial" pitchFamily="34" charset="0"/>
                <a:ea typeface="Arial" pitchFamily="34" charset="-122"/>
                <a:cs typeface="Arial" pitchFamily="34" charset="-120"/>
              </a:rPr>
              <a:t>baselines</a:t>
            </a:r>
            <a:endParaRPr lang="en-US" sz="1400" dirty="0"/>
          </a:p>
        </p:txBody>
      </p:sp>
      <p:sp>
        <p:nvSpPr>
          <p:cNvPr id="14" name="Text 12"/>
          <p:cNvSpPr txBox="1"/>
          <p:nvPr/>
        </p:nvSpPr>
        <p:spPr>
          <a:xfrm>
            <a:off x="3255264" y="1737360"/>
            <a:ext cx="1234440" cy="640080"/>
          </a:xfrm>
          <a:prstGeom prst="rect">
            <a:avLst/>
          </a:prstGeom>
          <a:noFill/>
          <a:ln/>
        </p:spPr>
        <p:txBody>
          <a:bodyPr wrap="square" lIns="0" tIns="0" rIns="0" bIns="0" rtlCol="0" anchor="t"/>
          <a:lstStyle/>
          <a:p>
            <a:pPr algn="ctr" indent="0" marL="0">
              <a:buNone/>
            </a:pPr>
            <a:r>
              <a:rPr lang="en-US" sz="1100" dirty="0">
                <a:solidFill>
                  <a:srgbClr val="1F2937"/>
                </a:solidFill>
                <a:latin typeface="Calibri" pitchFamily="34" charset="0"/>
                <a:ea typeface="Calibri" pitchFamily="34" charset="-122"/>
                <a:cs typeface="Calibri" pitchFamily="34" charset="-120"/>
              </a:rPr>
              <a:t>CNN, LSTM,</a:t>
            </a:r>
            <a:endParaRPr lang="en-US" sz="1100" dirty="0"/>
          </a:p>
          <a:p>
            <a:pPr algn="ctr" indent="0" marL="0">
              <a:buNone/>
            </a:pPr>
            <a:r>
              <a:rPr lang="en-US" sz="1100" dirty="0">
                <a:solidFill>
                  <a:srgbClr val="1F2937"/>
                </a:solidFill>
                <a:latin typeface="Calibri" pitchFamily="34" charset="0"/>
                <a:ea typeface="Calibri" pitchFamily="34" charset="-122"/>
                <a:cs typeface="Calibri" pitchFamily="34" charset="-120"/>
              </a:rPr>
              <a:t>MLP, RF</a:t>
            </a:r>
            <a:endParaRPr lang="en-US" sz="1100" dirty="0"/>
          </a:p>
        </p:txBody>
      </p:sp>
      <p:sp>
        <p:nvSpPr>
          <p:cNvPr id="15" name="Text 13"/>
          <p:cNvSpPr txBox="1"/>
          <p:nvPr/>
        </p:nvSpPr>
        <p:spPr>
          <a:xfrm>
            <a:off x="4489704" y="1691640"/>
            <a:ext cx="164592" cy="365760"/>
          </a:xfrm>
          <a:prstGeom prst="rect">
            <a:avLst/>
          </a:prstGeom>
          <a:noFill/>
          <a:ln/>
        </p:spPr>
        <p:txBody>
          <a:bodyPr wrap="square" lIns="0" tIns="0" rIns="0" bIns="0" rtlCol="0" anchor="ctr"/>
          <a:lstStyle/>
          <a:p>
            <a:pPr algn="ctr" indent="0" marL="0">
              <a:buNone/>
            </a:pPr>
            <a:r>
              <a:rPr lang="en-US" sz="1600" b="1" dirty="0">
                <a:solidFill>
                  <a:srgbClr val="5B6472"/>
                </a:solidFill>
                <a:latin typeface="Arial" pitchFamily="34" charset="0"/>
                <a:ea typeface="Arial" pitchFamily="34" charset="-122"/>
                <a:cs typeface="Arial" pitchFamily="34" charset="-120"/>
              </a:rPr>
              <a:t>&gt;</a:t>
            </a:r>
            <a:endParaRPr lang="en-US" sz="1600" dirty="0"/>
          </a:p>
        </p:txBody>
      </p:sp>
      <p:sp>
        <p:nvSpPr>
          <p:cNvPr id="16" name="Shape 14"/>
          <p:cNvSpPr/>
          <p:nvPr/>
        </p:nvSpPr>
        <p:spPr>
          <a:xfrm>
            <a:off x="4654296" y="1325880"/>
            <a:ext cx="1234440" cy="1143000"/>
          </a:xfrm>
          <a:prstGeom prst="roundRect">
            <a:avLst>
              <a:gd name="adj" fmla="val 6400"/>
            </a:avLst>
          </a:prstGeom>
          <a:solidFill>
            <a:srgbClr val="F1F5F8"/>
          </a:solidFill>
          <a:ln w="12700">
            <a:solidFill>
              <a:srgbClr val="F1F5F8"/>
            </a:solidFill>
            <a:prstDash val="solid"/>
          </a:ln>
        </p:spPr>
      </p:sp>
      <p:sp>
        <p:nvSpPr>
          <p:cNvPr id="17" name="Text 15"/>
          <p:cNvSpPr txBox="1"/>
          <p:nvPr/>
        </p:nvSpPr>
        <p:spPr>
          <a:xfrm>
            <a:off x="4654296" y="1417320"/>
            <a:ext cx="1234440" cy="320040"/>
          </a:xfrm>
          <a:prstGeom prst="rect">
            <a:avLst/>
          </a:prstGeom>
          <a:noFill/>
          <a:ln/>
        </p:spPr>
        <p:txBody>
          <a:bodyPr wrap="square" lIns="0" tIns="0" rIns="0" bIns="0" rtlCol="0" anchor="ctr"/>
          <a:lstStyle/>
          <a:p>
            <a:pPr algn="ctr" indent="0" marL="0">
              <a:buNone/>
            </a:pPr>
            <a:r>
              <a:rPr lang="en-US" sz="1400" b="1" dirty="0">
                <a:solidFill>
                  <a:srgbClr val="0E8C80"/>
                </a:solidFill>
                <a:latin typeface="Arial" pitchFamily="34" charset="0"/>
                <a:ea typeface="Arial" pitchFamily="34" charset="-122"/>
                <a:cs typeface="Arial" pitchFamily="34" charset="-120"/>
              </a:rPr>
              <a:t>cv</a:t>
            </a:r>
            <a:endParaRPr lang="en-US" sz="1400" dirty="0"/>
          </a:p>
        </p:txBody>
      </p:sp>
      <p:sp>
        <p:nvSpPr>
          <p:cNvPr id="18" name="Text 16"/>
          <p:cNvSpPr txBox="1"/>
          <p:nvPr/>
        </p:nvSpPr>
        <p:spPr>
          <a:xfrm>
            <a:off x="4654296" y="1737360"/>
            <a:ext cx="1234440" cy="640080"/>
          </a:xfrm>
          <a:prstGeom prst="rect">
            <a:avLst/>
          </a:prstGeom>
          <a:noFill/>
          <a:ln/>
        </p:spPr>
        <p:txBody>
          <a:bodyPr wrap="square" lIns="0" tIns="0" rIns="0" bIns="0" rtlCol="0" anchor="t"/>
          <a:lstStyle/>
          <a:p>
            <a:pPr algn="ctr" indent="0" marL="0">
              <a:buNone/>
            </a:pPr>
            <a:r>
              <a:rPr lang="en-US" sz="1100" dirty="0">
                <a:solidFill>
                  <a:srgbClr val="1F2937"/>
                </a:solidFill>
                <a:latin typeface="Calibri" pitchFamily="34" charset="0"/>
                <a:ea typeface="Calibri" pitchFamily="34" charset="-122"/>
                <a:cs typeface="Calibri" pitchFamily="34" charset="-120"/>
              </a:rPr>
              <a:t>5-fold</a:t>
            </a:r>
            <a:endParaRPr lang="en-US" sz="1100" dirty="0"/>
          </a:p>
          <a:p>
            <a:pPr algn="ctr" indent="0" marL="0">
              <a:buNone/>
            </a:pPr>
            <a:r>
              <a:rPr lang="en-US" sz="1100" dirty="0">
                <a:solidFill>
                  <a:srgbClr val="1F2937"/>
                </a:solidFill>
                <a:latin typeface="Calibri" pitchFamily="34" charset="0"/>
                <a:ea typeface="Calibri" pitchFamily="34" charset="-122"/>
                <a:cs typeface="Calibri" pitchFamily="34" charset="-120"/>
              </a:rPr>
              <a:t>stability</a:t>
            </a:r>
            <a:endParaRPr lang="en-US" sz="1100" dirty="0"/>
          </a:p>
        </p:txBody>
      </p:sp>
      <p:sp>
        <p:nvSpPr>
          <p:cNvPr id="19" name="Text 17"/>
          <p:cNvSpPr txBox="1"/>
          <p:nvPr/>
        </p:nvSpPr>
        <p:spPr>
          <a:xfrm>
            <a:off x="5888736" y="1691640"/>
            <a:ext cx="164592" cy="365760"/>
          </a:xfrm>
          <a:prstGeom prst="rect">
            <a:avLst/>
          </a:prstGeom>
          <a:noFill/>
          <a:ln/>
        </p:spPr>
        <p:txBody>
          <a:bodyPr wrap="square" lIns="0" tIns="0" rIns="0" bIns="0" rtlCol="0" anchor="ctr"/>
          <a:lstStyle/>
          <a:p>
            <a:pPr algn="ctr" indent="0" marL="0">
              <a:buNone/>
            </a:pPr>
            <a:r>
              <a:rPr lang="en-US" sz="1600" b="1" dirty="0">
                <a:solidFill>
                  <a:srgbClr val="5B6472"/>
                </a:solidFill>
                <a:latin typeface="Arial" pitchFamily="34" charset="0"/>
                <a:ea typeface="Arial" pitchFamily="34" charset="-122"/>
                <a:cs typeface="Arial" pitchFamily="34" charset="-120"/>
              </a:rPr>
              <a:t>&gt;</a:t>
            </a:r>
            <a:endParaRPr lang="en-US" sz="1600" dirty="0"/>
          </a:p>
        </p:txBody>
      </p:sp>
      <p:sp>
        <p:nvSpPr>
          <p:cNvPr id="20" name="Shape 18"/>
          <p:cNvSpPr/>
          <p:nvPr/>
        </p:nvSpPr>
        <p:spPr>
          <a:xfrm>
            <a:off x="6053328" y="1325880"/>
            <a:ext cx="1234440" cy="1143000"/>
          </a:xfrm>
          <a:prstGeom prst="roundRect">
            <a:avLst>
              <a:gd name="adj" fmla="val 6400"/>
            </a:avLst>
          </a:prstGeom>
          <a:solidFill>
            <a:srgbClr val="F1F5F8"/>
          </a:solidFill>
          <a:ln w="12700">
            <a:solidFill>
              <a:srgbClr val="F1F5F8"/>
            </a:solidFill>
            <a:prstDash val="solid"/>
          </a:ln>
        </p:spPr>
      </p:sp>
      <p:sp>
        <p:nvSpPr>
          <p:cNvPr id="21" name="Text 19"/>
          <p:cNvSpPr txBox="1"/>
          <p:nvPr/>
        </p:nvSpPr>
        <p:spPr>
          <a:xfrm>
            <a:off x="6053328" y="1417320"/>
            <a:ext cx="1234440" cy="320040"/>
          </a:xfrm>
          <a:prstGeom prst="rect">
            <a:avLst/>
          </a:prstGeom>
          <a:noFill/>
          <a:ln/>
        </p:spPr>
        <p:txBody>
          <a:bodyPr wrap="square" lIns="0" tIns="0" rIns="0" bIns="0" rtlCol="0" anchor="ctr"/>
          <a:lstStyle/>
          <a:p>
            <a:pPr algn="ctr" indent="0" marL="0">
              <a:buNone/>
            </a:pPr>
            <a:r>
              <a:rPr lang="en-US" sz="1400" b="1" dirty="0">
                <a:solidFill>
                  <a:srgbClr val="0E8C80"/>
                </a:solidFill>
                <a:latin typeface="Arial" pitchFamily="34" charset="0"/>
                <a:ea typeface="Arial" pitchFamily="34" charset="-122"/>
                <a:cs typeface="Arial" pitchFamily="34" charset="-120"/>
              </a:rPr>
              <a:t>compare</a:t>
            </a:r>
            <a:endParaRPr lang="en-US" sz="1400" dirty="0"/>
          </a:p>
        </p:txBody>
      </p:sp>
      <p:sp>
        <p:nvSpPr>
          <p:cNvPr id="22" name="Text 20"/>
          <p:cNvSpPr txBox="1"/>
          <p:nvPr/>
        </p:nvSpPr>
        <p:spPr>
          <a:xfrm>
            <a:off x="6053328" y="1737360"/>
            <a:ext cx="1234440" cy="640080"/>
          </a:xfrm>
          <a:prstGeom prst="rect">
            <a:avLst/>
          </a:prstGeom>
          <a:noFill/>
          <a:ln/>
        </p:spPr>
        <p:txBody>
          <a:bodyPr wrap="square" lIns="0" tIns="0" rIns="0" bIns="0" rtlCol="0" anchor="t"/>
          <a:lstStyle/>
          <a:p>
            <a:pPr algn="ctr" indent="0" marL="0">
              <a:buNone/>
            </a:pPr>
            <a:r>
              <a:rPr lang="en-US" sz="1100" dirty="0">
                <a:solidFill>
                  <a:srgbClr val="1F2937"/>
                </a:solidFill>
                <a:latin typeface="Calibri" pitchFamily="34" charset="0"/>
                <a:ea typeface="Calibri" pitchFamily="34" charset="-122"/>
                <a:cs typeface="Calibri" pitchFamily="34" charset="-120"/>
              </a:rPr>
              <a:t>vs paper</a:t>
            </a:r>
            <a:endParaRPr lang="en-US" sz="1100" dirty="0"/>
          </a:p>
        </p:txBody>
      </p:sp>
      <p:sp>
        <p:nvSpPr>
          <p:cNvPr id="23" name="Text 21"/>
          <p:cNvSpPr txBox="1"/>
          <p:nvPr/>
        </p:nvSpPr>
        <p:spPr>
          <a:xfrm>
            <a:off x="7287768" y="1691640"/>
            <a:ext cx="164592" cy="365760"/>
          </a:xfrm>
          <a:prstGeom prst="rect">
            <a:avLst/>
          </a:prstGeom>
          <a:noFill/>
          <a:ln/>
        </p:spPr>
        <p:txBody>
          <a:bodyPr wrap="square" lIns="0" tIns="0" rIns="0" bIns="0" rtlCol="0" anchor="ctr"/>
          <a:lstStyle/>
          <a:p>
            <a:pPr algn="ctr" indent="0" marL="0">
              <a:buNone/>
            </a:pPr>
            <a:r>
              <a:rPr lang="en-US" sz="1600" b="1" dirty="0">
                <a:solidFill>
                  <a:srgbClr val="5B6472"/>
                </a:solidFill>
                <a:latin typeface="Arial" pitchFamily="34" charset="0"/>
                <a:ea typeface="Arial" pitchFamily="34" charset="-122"/>
                <a:cs typeface="Arial" pitchFamily="34" charset="-120"/>
              </a:rPr>
              <a:t>&gt;</a:t>
            </a:r>
            <a:endParaRPr lang="en-US" sz="1600" dirty="0"/>
          </a:p>
        </p:txBody>
      </p:sp>
      <p:sp>
        <p:nvSpPr>
          <p:cNvPr id="24" name="Shape 22"/>
          <p:cNvSpPr/>
          <p:nvPr/>
        </p:nvSpPr>
        <p:spPr>
          <a:xfrm>
            <a:off x="7452360" y="1325880"/>
            <a:ext cx="1234440" cy="1143000"/>
          </a:xfrm>
          <a:prstGeom prst="roundRect">
            <a:avLst>
              <a:gd name="adj" fmla="val 6400"/>
            </a:avLst>
          </a:prstGeom>
          <a:solidFill>
            <a:srgbClr val="F1F5F8"/>
          </a:solidFill>
          <a:ln w="12700">
            <a:solidFill>
              <a:srgbClr val="F1F5F8"/>
            </a:solidFill>
            <a:prstDash val="solid"/>
          </a:ln>
        </p:spPr>
      </p:sp>
      <p:sp>
        <p:nvSpPr>
          <p:cNvPr id="25" name="Text 23"/>
          <p:cNvSpPr txBox="1"/>
          <p:nvPr/>
        </p:nvSpPr>
        <p:spPr>
          <a:xfrm>
            <a:off x="7452360" y="1417320"/>
            <a:ext cx="1234440" cy="320040"/>
          </a:xfrm>
          <a:prstGeom prst="rect">
            <a:avLst/>
          </a:prstGeom>
          <a:noFill/>
          <a:ln/>
        </p:spPr>
        <p:txBody>
          <a:bodyPr wrap="square" lIns="0" tIns="0" rIns="0" bIns="0" rtlCol="0" anchor="ctr"/>
          <a:lstStyle/>
          <a:p>
            <a:pPr algn="ctr" indent="0" marL="0">
              <a:buNone/>
            </a:pPr>
            <a:r>
              <a:rPr lang="en-US" sz="1400" b="1" dirty="0">
                <a:solidFill>
                  <a:srgbClr val="0E8C80"/>
                </a:solidFill>
                <a:latin typeface="Arial" pitchFamily="34" charset="0"/>
                <a:ea typeface="Arial" pitchFamily="34" charset="-122"/>
                <a:cs typeface="Arial" pitchFamily="34" charset="-120"/>
              </a:rPr>
              <a:t>edge</a:t>
            </a:r>
            <a:endParaRPr lang="en-US" sz="1400" dirty="0"/>
          </a:p>
        </p:txBody>
      </p:sp>
      <p:sp>
        <p:nvSpPr>
          <p:cNvPr id="26" name="Text 24"/>
          <p:cNvSpPr txBox="1"/>
          <p:nvPr/>
        </p:nvSpPr>
        <p:spPr>
          <a:xfrm>
            <a:off x="7452360" y="1737360"/>
            <a:ext cx="1234440" cy="640080"/>
          </a:xfrm>
          <a:prstGeom prst="rect">
            <a:avLst/>
          </a:prstGeom>
          <a:noFill/>
          <a:ln/>
        </p:spPr>
        <p:txBody>
          <a:bodyPr wrap="square" lIns="0" tIns="0" rIns="0" bIns="0" rtlCol="0" anchor="t"/>
          <a:lstStyle/>
          <a:p>
            <a:pPr algn="ctr" indent="0" marL="0">
              <a:buNone/>
            </a:pPr>
            <a:r>
              <a:rPr lang="en-US" sz="1100" dirty="0">
                <a:solidFill>
                  <a:srgbClr val="1F2937"/>
                </a:solidFill>
                <a:latin typeface="Calibri" pitchFamily="34" charset="0"/>
                <a:ea typeface="Calibri" pitchFamily="34" charset="-122"/>
                <a:cs typeface="Calibri" pitchFamily="34" charset="-120"/>
              </a:rPr>
              <a:t>TFLite</a:t>
            </a:r>
            <a:endParaRPr lang="en-US" sz="1100" dirty="0"/>
          </a:p>
          <a:p>
            <a:pPr algn="ctr" indent="0" marL="0">
              <a:buNone/>
            </a:pPr>
            <a:r>
              <a:rPr lang="en-US" sz="1100" dirty="0">
                <a:solidFill>
                  <a:srgbClr val="1F2937"/>
                </a:solidFill>
                <a:latin typeface="Calibri" pitchFamily="34" charset="0"/>
                <a:ea typeface="Calibri" pitchFamily="34" charset="-122"/>
                <a:cs typeface="Calibri" pitchFamily="34" charset="-120"/>
              </a:rPr>
              <a:t>benchmark</a:t>
            </a:r>
            <a:endParaRPr lang="en-US" sz="1100" dirty="0"/>
          </a:p>
        </p:txBody>
      </p:sp>
      <p:sp>
        <p:nvSpPr>
          <p:cNvPr id="27" name="Text 25"/>
          <p:cNvSpPr txBox="1"/>
          <p:nvPr/>
        </p:nvSpPr>
        <p:spPr>
          <a:xfrm>
            <a:off x="457200" y="2788920"/>
            <a:ext cx="4206240" cy="17373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1,399,311 flows sampled (stratified) from 7,845,673</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173,602 exact duplicates removed before splitting</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Split 70/15/15: 857,995 train / 183,857 val / 183,857 test</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41 of 46 features (constant columns dropped)</a:t>
            </a:r>
            <a:endParaRPr lang="en-US" sz="1300" dirty="0"/>
          </a:p>
        </p:txBody>
      </p:sp>
      <p:sp>
        <p:nvSpPr>
          <p:cNvPr id="28" name="Shape 26"/>
          <p:cNvSpPr/>
          <p:nvPr/>
        </p:nvSpPr>
        <p:spPr>
          <a:xfrm>
            <a:off x="4937760" y="2788920"/>
            <a:ext cx="3749040" cy="1691640"/>
          </a:xfrm>
          <a:prstGeom prst="roundRect">
            <a:avLst>
              <a:gd name="adj" fmla="val 4324"/>
            </a:avLst>
          </a:prstGeom>
          <a:solidFill>
            <a:srgbClr val="F1F5F8"/>
          </a:solidFill>
          <a:ln w="12700">
            <a:solidFill>
              <a:srgbClr val="F1F5F8"/>
            </a:solidFill>
            <a:prstDash val="solid"/>
          </a:ln>
        </p:spPr>
      </p:sp>
      <p:sp>
        <p:nvSpPr>
          <p:cNvPr id="29" name="Text 27"/>
          <p:cNvSpPr txBox="1"/>
          <p:nvPr/>
        </p:nvSpPr>
        <p:spPr>
          <a:xfrm>
            <a:off x="5120640" y="2880360"/>
            <a:ext cx="3383280" cy="320040"/>
          </a:xfrm>
          <a:prstGeom prst="rect">
            <a:avLst/>
          </a:prstGeom>
          <a:noFill/>
          <a:ln/>
        </p:spPr>
        <p:txBody>
          <a:bodyPr wrap="square" lIns="0" tIns="0" rIns="0" bIns="0" rtlCol="0" anchor="ctr"/>
          <a:lstStyle/>
          <a:p>
            <a:pPr indent="0" marL="0">
              <a:buNone/>
            </a:pPr>
            <a:r>
              <a:rPr lang="en-US" sz="1400" b="1" dirty="0">
                <a:solidFill>
                  <a:srgbClr val="0E8C80"/>
                </a:solidFill>
                <a:latin typeface="Arial" pitchFamily="34" charset="0"/>
                <a:ea typeface="Arial" pitchFamily="34" charset="-122"/>
                <a:cs typeface="Arial" pitchFamily="34" charset="-120"/>
              </a:rPr>
              <a:t>No data leakage</a:t>
            </a:r>
            <a:endParaRPr lang="en-US" sz="1400" dirty="0"/>
          </a:p>
        </p:txBody>
      </p:sp>
      <p:sp>
        <p:nvSpPr>
          <p:cNvPr id="30" name="Text 28"/>
          <p:cNvSpPr txBox="1"/>
          <p:nvPr/>
        </p:nvSpPr>
        <p:spPr>
          <a:xfrm>
            <a:off x="5120640" y="3200400"/>
            <a:ext cx="3383280" cy="11887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Scaler, imputer and class weights are fitted on the training split only. Validation and test keep their natural class mix. Automated tests check all of this.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The CNN-LSTM model (paper Fig. 2)</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79,902 parameters; two heads merged into one decision</a:t>
            </a:r>
            <a:endParaRPr lang="en-US" sz="1300" dirty="0"/>
          </a:p>
        </p:txBody>
      </p:sp>
      <p:sp>
        <p:nvSpPr>
          <p:cNvPr id="4" name="Shape 2"/>
          <p:cNvSpPr/>
          <p:nvPr/>
        </p:nvSpPr>
        <p:spPr>
          <a:xfrm>
            <a:off x="457200" y="1371600"/>
            <a:ext cx="1078992" cy="594360"/>
          </a:xfrm>
          <a:prstGeom prst="roundRect">
            <a:avLst>
              <a:gd name="adj" fmla="val 12308"/>
            </a:avLst>
          </a:prstGeom>
          <a:solidFill>
            <a:srgbClr val="D5DCE3"/>
          </a:solidFill>
          <a:ln w="12700">
            <a:solidFill>
              <a:srgbClr val="D5DCE3"/>
            </a:solidFill>
            <a:prstDash val="solid"/>
          </a:ln>
        </p:spPr>
      </p:sp>
      <p:sp>
        <p:nvSpPr>
          <p:cNvPr id="5" name="Text 3"/>
          <p:cNvSpPr txBox="1"/>
          <p:nvPr/>
        </p:nvSpPr>
        <p:spPr>
          <a:xfrm>
            <a:off x="457200" y="1371600"/>
            <a:ext cx="1078992" cy="594360"/>
          </a:xfrm>
          <a:prstGeom prst="rect">
            <a:avLst/>
          </a:prstGeom>
          <a:noFill/>
          <a:ln/>
        </p:spPr>
        <p:txBody>
          <a:bodyPr wrap="square" lIns="25400" tIns="25400" rIns="25400" bIns="25400" rtlCol="0" anchor="ctr"/>
          <a:lstStyle/>
          <a:p>
            <a:pPr algn="ctr" indent="0" marL="0">
              <a:buNone/>
            </a:pPr>
            <a:r>
              <a:rPr lang="en-US" sz="1100" b="1" dirty="0">
                <a:solidFill>
                  <a:srgbClr val="1F2937"/>
                </a:solidFill>
                <a:latin typeface="Calibri" pitchFamily="34" charset="0"/>
                <a:ea typeface="Calibri" pitchFamily="34" charset="-122"/>
                <a:cs typeface="Calibri" pitchFamily="34" charset="-120"/>
              </a:rPr>
              <a:t>Input 41x1</a:t>
            </a:r>
            <a:endParaRPr lang="en-US" sz="1100" dirty="0"/>
          </a:p>
        </p:txBody>
      </p:sp>
      <p:sp>
        <p:nvSpPr>
          <p:cNvPr id="6" name="Shape 4"/>
          <p:cNvSpPr/>
          <p:nvPr/>
        </p:nvSpPr>
        <p:spPr>
          <a:xfrm>
            <a:off x="1645920" y="1371600"/>
            <a:ext cx="1078992" cy="594360"/>
          </a:xfrm>
          <a:prstGeom prst="roundRect">
            <a:avLst>
              <a:gd name="adj" fmla="val 12308"/>
            </a:avLst>
          </a:prstGeom>
          <a:solidFill>
            <a:srgbClr val="F1F5F8"/>
          </a:solidFill>
          <a:ln w="12700">
            <a:solidFill>
              <a:srgbClr val="F1F5F8"/>
            </a:solidFill>
            <a:prstDash val="solid"/>
          </a:ln>
        </p:spPr>
      </p:sp>
      <p:sp>
        <p:nvSpPr>
          <p:cNvPr id="7" name="Text 5"/>
          <p:cNvSpPr txBox="1"/>
          <p:nvPr/>
        </p:nvSpPr>
        <p:spPr>
          <a:xfrm>
            <a:off x="1645920" y="1371600"/>
            <a:ext cx="1078992" cy="594360"/>
          </a:xfrm>
          <a:prstGeom prst="rect">
            <a:avLst/>
          </a:prstGeom>
          <a:noFill/>
          <a:ln/>
        </p:spPr>
        <p:txBody>
          <a:bodyPr wrap="square" lIns="25400" tIns="25400" rIns="25400" bIns="25400" rtlCol="0" anchor="ctr"/>
          <a:lstStyle/>
          <a:p>
            <a:pPr algn="ctr" indent="0" marL="0">
              <a:buNone/>
            </a:pPr>
            <a:r>
              <a:rPr lang="en-US" sz="1100" b="1" dirty="0">
                <a:solidFill>
                  <a:srgbClr val="1F2937"/>
                </a:solidFill>
                <a:latin typeface="Calibri" pitchFamily="34" charset="0"/>
                <a:ea typeface="Calibri" pitchFamily="34" charset="-122"/>
                <a:cs typeface="Calibri" pitchFamily="34" charset="-120"/>
              </a:rPr>
              <a:t>Conv1D 64, k3</a:t>
            </a:r>
            <a:endParaRPr lang="en-US" sz="1100" dirty="0"/>
          </a:p>
        </p:txBody>
      </p:sp>
      <p:sp>
        <p:nvSpPr>
          <p:cNvPr id="8" name="Shape 6"/>
          <p:cNvSpPr/>
          <p:nvPr/>
        </p:nvSpPr>
        <p:spPr>
          <a:xfrm>
            <a:off x="2834640" y="1371600"/>
            <a:ext cx="1078992" cy="594360"/>
          </a:xfrm>
          <a:prstGeom prst="roundRect">
            <a:avLst>
              <a:gd name="adj" fmla="val 12308"/>
            </a:avLst>
          </a:prstGeom>
          <a:solidFill>
            <a:srgbClr val="F1F5F8"/>
          </a:solidFill>
          <a:ln w="12700">
            <a:solidFill>
              <a:srgbClr val="F1F5F8"/>
            </a:solidFill>
            <a:prstDash val="solid"/>
          </a:ln>
        </p:spPr>
      </p:sp>
      <p:sp>
        <p:nvSpPr>
          <p:cNvPr id="9" name="Text 7"/>
          <p:cNvSpPr txBox="1"/>
          <p:nvPr/>
        </p:nvSpPr>
        <p:spPr>
          <a:xfrm>
            <a:off x="2834640" y="1371600"/>
            <a:ext cx="1078992" cy="594360"/>
          </a:xfrm>
          <a:prstGeom prst="rect">
            <a:avLst/>
          </a:prstGeom>
          <a:noFill/>
          <a:ln/>
        </p:spPr>
        <p:txBody>
          <a:bodyPr wrap="square" lIns="25400" tIns="25400" rIns="25400" bIns="25400" rtlCol="0" anchor="ctr"/>
          <a:lstStyle/>
          <a:p>
            <a:pPr algn="ctr" indent="0" marL="0">
              <a:buNone/>
            </a:pPr>
            <a:r>
              <a:rPr lang="en-US" sz="1100" b="1" dirty="0">
                <a:solidFill>
                  <a:srgbClr val="1F2937"/>
                </a:solidFill>
                <a:latin typeface="Calibri" pitchFamily="34" charset="0"/>
                <a:ea typeface="Calibri" pitchFamily="34" charset="-122"/>
                <a:cs typeface="Calibri" pitchFamily="34" charset="-120"/>
              </a:rPr>
              <a:t>BatchNorm + AvgPool</a:t>
            </a:r>
            <a:endParaRPr lang="en-US" sz="1100" dirty="0"/>
          </a:p>
        </p:txBody>
      </p:sp>
      <p:sp>
        <p:nvSpPr>
          <p:cNvPr id="10" name="Shape 8"/>
          <p:cNvSpPr/>
          <p:nvPr/>
        </p:nvSpPr>
        <p:spPr>
          <a:xfrm>
            <a:off x="4023360" y="1371600"/>
            <a:ext cx="1078992" cy="594360"/>
          </a:xfrm>
          <a:prstGeom prst="roundRect">
            <a:avLst>
              <a:gd name="adj" fmla="val 12308"/>
            </a:avLst>
          </a:prstGeom>
          <a:solidFill>
            <a:srgbClr val="F1F5F8"/>
          </a:solidFill>
          <a:ln w="12700">
            <a:solidFill>
              <a:srgbClr val="F1F5F8"/>
            </a:solidFill>
            <a:prstDash val="solid"/>
          </a:ln>
        </p:spPr>
      </p:sp>
      <p:sp>
        <p:nvSpPr>
          <p:cNvPr id="11" name="Text 9"/>
          <p:cNvSpPr txBox="1"/>
          <p:nvPr/>
        </p:nvSpPr>
        <p:spPr>
          <a:xfrm>
            <a:off x="4023360" y="1371600"/>
            <a:ext cx="1078992" cy="594360"/>
          </a:xfrm>
          <a:prstGeom prst="rect">
            <a:avLst/>
          </a:prstGeom>
          <a:noFill/>
          <a:ln/>
        </p:spPr>
        <p:txBody>
          <a:bodyPr wrap="square" lIns="25400" tIns="25400" rIns="25400" bIns="25400" rtlCol="0" anchor="ctr"/>
          <a:lstStyle/>
          <a:p>
            <a:pPr algn="ctr" indent="0" marL="0">
              <a:buNone/>
            </a:pPr>
            <a:r>
              <a:rPr lang="en-US" sz="1100" b="1" dirty="0">
                <a:solidFill>
                  <a:srgbClr val="1F2937"/>
                </a:solidFill>
                <a:latin typeface="Calibri" pitchFamily="34" charset="0"/>
                <a:ea typeface="Calibri" pitchFamily="34" charset="-122"/>
                <a:cs typeface="Calibri" pitchFamily="34" charset="-120"/>
              </a:rPr>
              <a:t>Conv1D 64, k3</a:t>
            </a:r>
            <a:endParaRPr lang="en-US" sz="1100" dirty="0"/>
          </a:p>
        </p:txBody>
      </p:sp>
      <p:sp>
        <p:nvSpPr>
          <p:cNvPr id="12" name="Shape 10"/>
          <p:cNvSpPr/>
          <p:nvPr/>
        </p:nvSpPr>
        <p:spPr>
          <a:xfrm>
            <a:off x="5212080" y="1371600"/>
            <a:ext cx="1078992" cy="594360"/>
          </a:xfrm>
          <a:prstGeom prst="roundRect">
            <a:avLst>
              <a:gd name="adj" fmla="val 12308"/>
            </a:avLst>
          </a:prstGeom>
          <a:solidFill>
            <a:srgbClr val="F1F5F8"/>
          </a:solidFill>
          <a:ln w="12700">
            <a:solidFill>
              <a:srgbClr val="F1F5F8"/>
            </a:solidFill>
            <a:prstDash val="solid"/>
          </a:ln>
        </p:spPr>
      </p:sp>
      <p:sp>
        <p:nvSpPr>
          <p:cNvPr id="13" name="Text 11"/>
          <p:cNvSpPr txBox="1"/>
          <p:nvPr/>
        </p:nvSpPr>
        <p:spPr>
          <a:xfrm>
            <a:off x="5212080" y="1371600"/>
            <a:ext cx="1078992" cy="594360"/>
          </a:xfrm>
          <a:prstGeom prst="rect">
            <a:avLst/>
          </a:prstGeom>
          <a:noFill/>
          <a:ln/>
        </p:spPr>
        <p:txBody>
          <a:bodyPr wrap="square" lIns="25400" tIns="25400" rIns="25400" bIns="25400" rtlCol="0" anchor="ctr"/>
          <a:lstStyle/>
          <a:p>
            <a:pPr algn="ctr" indent="0" marL="0">
              <a:buNone/>
            </a:pPr>
            <a:r>
              <a:rPr lang="en-US" sz="1100" b="1" dirty="0">
                <a:solidFill>
                  <a:srgbClr val="1F2937"/>
                </a:solidFill>
                <a:latin typeface="Calibri" pitchFamily="34" charset="0"/>
                <a:ea typeface="Calibri" pitchFamily="34" charset="-122"/>
                <a:cs typeface="Calibri" pitchFamily="34" charset="-120"/>
              </a:rPr>
              <a:t>AvgPool + Flatten</a:t>
            </a:r>
            <a:endParaRPr lang="en-US" sz="1100" dirty="0"/>
          </a:p>
        </p:txBody>
      </p:sp>
      <p:sp>
        <p:nvSpPr>
          <p:cNvPr id="14" name="Shape 12"/>
          <p:cNvSpPr/>
          <p:nvPr/>
        </p:nvSpPr>
        <p:spPr>
          <a:xfrm>
            <a:off x="6400800" y="1371600"/>
            <a:ext cx="1078992" cy="594360"/>
          </a:xfrm>
          <a:prstGeom prst="roundRect">
            <a:avLst>
              <a:gd name="adj" fmla="val 12308"/>
            </a:avLst>
          </a:prstGeom>
          <a:solidFill>
            <a:srgbClr val="F1F5F8"/>
          </a:solidFill>
          <a:ln w="12700">
            <a:solidFill>
              <a:srgbClr val="F1F5F8"/>
            </a:solidFill>
            <a:prstDash val="solid"/>
          </a:ln>
        </p:spPr>
      </p:sp>
      <p:sp>
        <p:nvSpPr>
          <p:cNvPr id="15" name="Text 13"/>
          <p:cNvSpPr txBox="1"/>
          <p:nvPr/>
        </p:nvSpPr>
        <p:spPr>
          <a:xfrm>
            <a:off x="6400800" y="1371600"/>
            <a:ext cx="1078992" cy="594360"/>
          </a:xfrm>
          <a:prstGeom prst="rect">
            <a:avLst/>
          </a:prstGeom>
          <a:noFill/>
          <a:ln/>
        </p:spPr>
        <p:txBody>
          <a:bodyPr wrap="square" lIns="25400" tIns="25400" rIns="25400" bIns="25400" rtlCol="0" anchor="ctr"/>
          <a:lstStyle/>
          <a:p>
            <a:pPr algn="ctr" indent="0" marL="0">
              <a:buNone/>
            </a:pPr>
            <a:r>
              <a:rPr lang="en-US" sz="1100" b="1" dirty="0">
                <a:solidFill>
                  <a:srgbClr val="1F2937"/>
                </a:solidFill>
                <a:latin typeface="Calibri" pitchFamily="34" charset="0"/>
                <a:ea typeface="Calibri" pitchFamily="34" charset="-122"/>
                <a:cs typeface="Calibri" pitchFamily="34" charset="-120"/>
              </a:rPr>
              <a:t>Dense 32</a:t>
            </a:r>
            <a:endParaRPr lang="en-US" sz="1100" dirty="0"/>
          </a:p>
        </p:txBody>
      </p:sp>
      <p:sp>
        <p:nvSpPr>
          <p:cNvPr id="16" name="Shape 14"/>
          <p:cNvSpPr/>
          <p:nvPr/>
        </p:nvSpPr>
        <p:spPr>
          <a:xfrm>
            <a:off x="7589520" y="1371600"/>
            <a:ext cx="1078992" cy="594360"/>
          </a:xfrm>
          <a:prstGeom prst="roundRect">
            <a:avLst>
              <a:gd name="adj" fmla="val 12308"/>
            </a:avLst>
          </a:prstGeom>
          <a:solidFill>
            <a:srgbClr val="F1F5F8"/>
          </a:solidFill>
          <a:ln w="12700">
            <a:solidFill>
              <a:srgbClr val="F1F5F8"/>
            </a:solidFill>
            <a:prstDash val="solid"/>
          </a:ln>
        </p:spPr>
      </p:sp>
      <p:sp>
        <p:nvSpPr>
          <p:cNvPr id="17" name="Text 15"/>
          <p:cNvSpPr txBox="1"/>
          <p:nvPr/>
        </p:nvSpPr>
        <p:spPr>
          <a:xfrm>
            <a:off x="7589520" y="1371600"/>
            <a:ext cx="1078992" cy="594360"/>
          </a:xfrm>
          <a:prstGeom prst="rect">
            <a:avLst/>
          </a:prstGeom>
          <a:noFill/>
          <a:ln/>
        </p:spPr>
        <p:txBody>
          <a:bodyPr wrap="square" lIns="25400" tIns="25400" rIns="25400" bIns="25400" rtlCol="0" anchor="ctr"/>
          <a:lstStyle/>
          <a:p>
            <a:pPr algn="ctr" indent="0" marL="0">
              <a:buNone/>
            </a:pPr>
            <a:r>
              <a:rPr lang="en-US" sz="1100" b="1" dirty="0">
                <a:solidFill>
                  <a:srgbClr val="1F2937"/>
                </a:solidFill>
                <a:latin typeface="Calibri" pitchFamily="34" charset="0"/>
                <a:ea typeface="Calibri" pitchFamily="34" charset="-122"/>
                <a:cs typeface="Calibri" pitchFamily="34" charset="-120"/>
              </a:rPr>
              <a:t>Dense 16</a:t>
            </a:r>
            <a:endParaRPr lang="en-US" sz="1100" dirty="0"/>
          </a:p>
        </p:txBody>
      </p:sp>
      <p:sp>
        <p:nvSpPr>
          <p:cNvPr id="18" name="Text 16"/>
          <p:cNvSpPr txBox="1"/>
          <p:nvPr/>
        </p:nvSpPr>
        <p:spPr>
          <a:xfrm>
            <a:off x="457200" y="2011680"/>
            <a:ext cx="8229600" cy="274320"/>
          </a:xfrm>
          <a:prstGeom prst="rect">
            <a:avLst/>
          </a:prstGeom>
          <a:noFill/>
          <a:ln/>
        </p:spPr>
        <p:txBody>
          <a:bodyPr wrap="square" lIns="0" tIns="0" rIns="0" bIns="0" rtlCol="0" anchor="ctr"/>
          <a:lstStyle/>
          <a:p>
            <a:pPr indent="0" marL="0">
              <a:buNone/>
            </a:pPr>
            <a:r>
              <a:rPr lang="en-US" sz="1100" i="1" dirty="0">
                <a:solidFill>
                  <a:srgbClr val="5B6472"/>
                </a:solidFill>
                <a:latin typeface="Calibri" pitchFamily="34" charset="0"/>
                <a:ea typeface="Calibri" pitchFamily="34" charset="-122"/>
                <a:cs typeface="Calibri" pitchFamily="34" charset="-120"/>
              </a:rPr>
              <a:t>CNN part: finds local patterns across neighbouring flow features</a:t>
            </a:r>
            <a:endParaRPr lang="en-US" sz="1100" dirty="0"/>
          </a:p>
        </p:txBody>
      </p:sp>
      <p:sp>
        <p:nvSpPr>
          <p:cNvPr id="19" name="Shape 17"/>
          <p:cNvSpPr/>
          <p:nvPr/>
        </p:nvSpPr>
        <p:spPr>
          <a:xfrm>
            <a:off x="457200" y="2468880"/>
            <a:ext cx="3017520" cy="640080"/>
          </a:xfrm>
          <a:prstGeom prst="roundRect">
            <a:avLst>
              <a:gd name="adj" fmla="val 11429"/>
            </a:avLst>
          </a:prstGeom>
          <a:solidFill>
            <a:srgbClr val="F1F5F8"/>
          </a:solidFill>
          <a:ln w="12700">
            <a:solidFill>
              <a:srgbClr val="F1F5F8"/>
            </a:solidFill>
            <a:prstDash val="solid"/>
          </a:ln>
        </p:spPr>
      </p:sp>
      <p:sp>
        <p:nvSpPr>
          <p:cNvPr id="20" name="Text 18"/>
          <p:cNvSpPr txBox="1"/>
          <p:nvPr/>
        </p:nvSpPr>
        <p:spPr>
          <a:xfrm>
            <a:off x="457200" y="2468880"/>
            <a:ext cx="3017520" cy="640080"/>
          </a:xfrm>
          <a:prstGeom prst="rect">
            <a:avLst/>
          </a:prstGeom>
          <a:noFill/>
          <a:ln/>
        </p:spPr>
        <p:txBody>
          <a:bodyPr wrap="square" lIns="0" tIns="0" rIns="0" bIns="0"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Head A: Dense 2 (softmax)</a:t>
            </a:r>
            <a:endParaRPr lang="en-US" sz="1200" dirty="0"/>
          </a:p>
        </p:txBody>
      </p:sp>
      <p:sp>
        <p:nvSpPr>
          <p:cNvPr id="21" name="Shape 19"/>
          <p:cNvSpPr/>
          <p:nvPr/>
        </p:nvSpPr>
        <p:spPr>
          <a:xfrm>
            <a:off x="457200" y="3291840"/>
            <a:ext cx="5577840" cy="640080"/>
          </a:xfrm>
          <a:prstGeom prst="roundRect">
            <a:avLst>
              <a:gd name="adj" fmla="val 11429"/>
            </a:avLst>
          </a:prstGeom>
          <a:solidFill>
            <a:srgbClr val="FBE9E7"/>
          </a:solidFill>
          <a:ln w="12700">
            <a:solidFill>
              <a:srgbClr val="FBE9E7"/>
            </a:solidFill>
            <a:prstDash val="solid"/>
          </a:ln>
        </p:spPr>
      </p:sp>
      <p:sp>
        <p:nvSpPr>
          <p:cNvPr id="22" name="Text 20"/>
          <p:cNvSpPr txBox="1"/>
          <p:nvPr/>
        </p:nvSpPr>
        <p:spPr>
          <a:xfrm>
            <a:off x="457200" y="3291840"/>
            <a:ext cx="5577840" cy="640080"/>
          </a:xfrm>
          <a:prstGeom prst="rect">
            <a:avLst/>
          </a:prstGeom>
          <a:noFill/>
          <a:ln/>
        </p:spPr>
        <p:txBody>
          <a:bodyPr wrap="square" lIns="0" tIns="0" rIns="0" bIns="0" rtlCol="0" anchor="ctr"/>
          <a:lstStyle/>
          <a:p>
            <a:pPr algn="ctr" indent="0" marL="0">
              <a:buNone/>
            </a:pPr>
            <a:r>
              <a:rPr lang="en-US" sz="1200" b="1" dirty="0">
                <a:solidFill>
                  <a:srgbClr val="C0392B"/>
                </a:solidFill>
                <a:latin typeface="Calibri" pitchFamily="34" charset="0"/>
                <a:ea typeface="Calibri" pitchFamily="34" charset="-122"/>
                <a:cs typeface="Calibri" pitchFamily="34" charset="-120"/>
              </a:rPr>
              <a:t>Head B: Reshape 16x1 &gt; LSTM 64 &gt; LSTM 64 &gt; Dense 2 (sigmoid)</a:t>
            </a:r>
            <a:endParaRPr lang="en-US" sz="1200" dirty="0"/>
          </a:p>
        </p:txBody>
      </p:sp>
      <p:sp>
        <p:nvSpPr>
          <p:cNvPr id="23" name="Shape 21"/>
          <p:cNvSpPr/>
          <p:nvPr/>
        </p:nvSpPr>
        <p:spPr>
          <a:xfrm>
            <a:off x="6400800" y="2697480"/>
            <a:ext cx="2286000" cy="1005840"/>
          </a:xfrm>
          <a:prstGeom prst="roundRect">
            <a:avLst>
              <a:gd name="adj" fmla="val 7273"/>
            </a:avLst>
          </a:prstGeom>
          <a:solidFill>
            <a:srgbClr val="0F1B2D"/>
          </a:solidFill>
          <a:ln w="12700">
            <a:solidFill>
              <a:srgbClr val="0F1B2D"/>
            </a:solidFill>
            <a:prstDash val="solid"/>
          </a:ln>
        </p:spPr>
      </p:sp>
      <p:sp>
        <p:nvSpPr>
          <p:cNvPr id="24" name="Text 22"/>
          <p:cNvSpPr txBox="1"/>
          <p:nvPr/>
        </p:nvSpPr>
        <p:spPr>
          <a:xfrm>
            <a:off x="6400800" y="2697480"/>
            <a:ext cx="2286000" cy="1005840"/>
          </a:xfrm>
          <a:prstGeom prst="rect">
            <a:avLst/>
          </a:prstGeom>
          <a:noFill/>
          <a:ln/>
        </p:spPr>
        <p:txBody>
          <a:bodyPr wrap="square" lIns="50800" tIns="50800" rIns="50800" bIns="508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Concatenate &gt; Dense 2 (softmax)</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benign / malicious</a:t>
            </a:r>
            <a:endParaRPr lang="en-US" sz="1200" dirty="0"/>
          </a:p>
        </p:txBody>
      </p:sp>
      <p:sp>
        <p:nvSpPr>
          <p:cNvPr id="25" name="Text 23"/>
          <p:cNvSpPr txBox="1"/>
          <p:nvPr/>
        </p:nvSpPr>
        <p:spPr>
          <a:xfrm>
            <a:off x="457200" y="4160520"/>
            <a:ext cx="8229600" cy="45720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Assumed (not stated in the paper): pooling size 2, ReLU, batch 256, learning rate 1e-3, early stopping + LR reduction. Paper: Adam, 25 epochs.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Training on the RTX 4060</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25 epochs, best epoch 23, 16.6 min total (about 42 s per epoch)</a:t>
            </a:r>
            <a:endParaRPr lang="en-US" sz="1300" dirty="0"/>
          </a:p>
        </p:txBody>
      </p:sp>
      <p:pic>
        <p:nvPicPr>
          <p:cNvPr id="4" name="Image 0" descr="C:\Users\ayush\Desktop\Coding\IDS\iot_ids_cnn_lstm\outputs\figures\slides\06_training_accuracy.png">    </p:cNvPr>
          <p:cNvPicPr>
            <a:picLocks noChangeAspect="1"/>
          </p:cNvPicPr>
          <p:nvPr/>
        </p:nvPicPr>
        <p:blipFill>
          <a:blip r:embed="rId1"/>
          <a:stretch>
            <a:fillRect/>
          </a:stretch>
        </p:blipFill>
        <p:spPr>
          <a:xfrm>
            <a:off x="457200" y="1325880"/>
            <a:ext cx="4023360" cy="2262857"/>
          </a:xfrm>
          <a:prstGeom prst="rect">
            <a:avLst/>
          </a:prstGeom>
        </p:spPr>
      </p:pic>
      <p:pic>
        <p:nvPicPr>
          <p:cNvPr id="5" name="Image 1" descr="C:\Users\ayush\Desktop\Coding\IDS\iot_ids_cnn_lstm\outputs\figures\slides\07_training_loss.png">    </p:cNvPr>
          <p:cNvPicPr>
            <a:picLocks noChangeAspect="1"/>
          </p:cNvPicPr>
          <p:nvPr/>
        </p:nvPicPr>
        <p:blipFill>
          <a:blip r:embed="rId2"/>
          <a:stretch>
            <a:fillRect/>
          </a:stretch>
        </p:blipFill>
        <p:spPr>
          <a:xfrm>
            <a:off x="4663440" y="1325880"/>
            <a:ext cx="4023360" cy="2262857"/>
          </a:xfrm>
          <a:prstGeom prst="rect">
            <a:avLst/>
          </a:prstGeom>
        </p:spPr>
      </p:pic>
      <p:sp>
        <p:nvSpPr>
          <p:cNvPr id="6" name="Text 2"/>
          <p:cNvSpPr txBox="1"/>
          <p:nvPr/>
        </p:nvSpPr>
        <p:spPr>
          <a:xfrm>
            <a:off x="457200" y="3794760"/>
            <a:ext cx="8229600" cy="54864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Validation curves track training closely: no sign of overfitting. The learning rate was halved automatically when validation loss stalled.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Result: 98.7% accuracy, matching the paper</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Held-out test set, 183,857 flows</a:t>
            </a:r>
            <a:endParaRPr lang="en-US" sz="1300" dirty="0"/>
          </a:p>
        </p:txBody>
      </p:sp>
      <p:sp>
        <p:nvSpPr>
          <p:cNvPr id="4" name="Text 2"/>
          <p:cNvSpPr txBox="1"/>
          <p:nvPr/>
        </p:nvSpPr>
        <p:spPr>
          <a:xfrm>
            <a:off x="457200" y="1280160"/>
            <a:ext cx="2103120" cy="548640"/>
          </a:xfrm>
          <a:prstGeom prst="rect">
            <a:avLst/>
          </a:prstGeom>
          <a:noFill/>
          <a:ln/>
        </p:spPr>
        <p:txBody>
          <a:bodyPr wrap="square" lIns="0" tIns="0" rIns="0" bIns="0" rtlCol="0" anchor="ctr"/>
          <a:lstStyle/>
          <a:p>
            <a:pPr indent="0" marL="0">
              <a:buNone/>
            </a:pPr>
            <a:r>
              <a:rPr lang="en-US" sz="3200" b="1" dirty="0">
                <a:solidFill>
                  <a:srgbClr val="C0392B"/>
                </a:solidFill>
                <a:latin typeface="Arial" pitchFamily="34" charset="0"/>
                <a:ea typeface="Arial" pitchFamily="34" charset="-122"/>
                <a:cs typeface="Arial" pitchFamily="34" charset="-120"/>
              </a:rPr>
              <a:t>98.74%</a:t>
            </a:r>
            <a:endParaRPr lang="en-US" sz="3200" dirty="0"/>
          </a:p>
        </p:txBody>
      </p:sp>
      <p:sp>
        <p:nvSpPr>
          <p:cNvPr id="5" name="Text 3"/>
          <p:cNvSpPr txBox="1"/>
          <p:nvPr/>
        </p:nvSpPr>
        <p:spPr>
          <a:xfrm>
            <a:off x="457200" y="1828800"/>
            <a:ext cx="2103120" cy="4114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accuracy (paper 98.42%)</a:t>
            </a:r>
            <a:endParaRPr lang="en-US" sz="1150" dirty="0"/>
          </a:p>
        </p:txBody>
      </p:sp>
      <p:sp>
        <p:nvSpPr>
          <p:cNvPr id="6" name="Text 4"/>
          <p:cNvSpPr txBox="1"/>
          <p:nvPr/>
        </p:nvSpPr>
        <p:spPr>
          <a:xfrm>
            <a:off x="2651760" y="1280160"/>
            <a:ext cx="1828800" cy="548640"/>
          </a:xfrm>
          <a:prstGeom prst="rect">
            <a:avLst/>
          </a:prstGeom>
          <a:noFill/>
          <a:ln/>
        </p:spPr>
        <p:txBody>
          <a:bodyPr wrap="square" lIns="0" tIns="0" rIns="0" bIns="0" rtlCol="0" anchor="ctr"/>
          <a:lstStyle/>
          <a:p>
            <a:pPr indent="0" marL="0">
              <a:buNone/>
            </a:pPr>
            <a:r>
              <a:rPr lang="en-US" sz="3200" b="1" dirty="0">
                <a:solidFill>
                  <a:srgbClr val="0E8C80"/>
                </a:solidFill>
                <a:latin typeface="Arial" pitchFamily="34" charset="0"/>
                <a:ea typeface="Arial" pitchFamily="34" charset="-122"/>
                <a:cs typeface="Arial" pitchFamily="34" charset="-120"/>
              </a:rPr>
              <a:t>0.818</a:t>
            </a:r>
            <a:endParaRPr lang="en-US" sz="3200" dirty="0"/>
          </a:p>
        </p:txBody>
      </p:sp>
      <p:sp>
        <p:nvSpPr>
          <p:cNvPr id="7" name="Text 5"/>
          <p:cNvSpPr txBox="1"/>
          <p:nvPr/>
        </p:nvSpPr>
        <p:spPr>
          <a:xfrm>
            <a:off x="2651760" y="1828800"/>
            <a:ext cx="1828800" cy="4114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MCC (0 = no skill)</a:t>
            </a:r>
            <a:endParaRPr lang="en-US" sz="1150" dirty="0"/>
          </a:p>
        </p:txBody>
      </p:sp>
      <p:sp>
        <p:nvSpPr>
          <p:cNvPr id="8" name="Text 6"/>
          <p:cNvSpPr txBox="1"/>
          <p:nvPr/>
        </p:nvSpPr>
        <p:spPr>
          <a:xfrm>
            <a:off x="457200" y="2514600"/>
            <a:ext cx="2103120" cy="548640"/>
          </a:xfrm>
          <a:prstGeom prst="rect">
            <a:avLst/>
          </a:prstGeom>
          <a:noFill/>
          <a:ln/>
        </p:spPr>
        <p:txBody>
          <a:bodyPr wrap="square" lIns="0" tIns="0" rIns="0" bIns="0" rtlCol="0" anchor="ctr"/>
          <a:lstStyle/>
          <a:p>
            <a:pPr indent="0" marL="0">
              <a:buNone/>
            </a:pPr>
            <a:r>
              <a:rPr lang="en-US" sz="3200" b="1" dirty="0">
                <a:solidFill>
                  <a:srgbClr val="0E8C80"/>
                </a:solidFill>
                <a:latin typeface="Arial" pitchFamily="34" charset="0"/>
                <a:ea typeface="Arial" pitchFamily="34" charset="-122"/>
                <a:cs typeface="Arial" pitchFamily="34" charset="-120"/>
              </a:rPr>
              <a:t>0.16%</a:t>
            </a:r>
            <a:endParaRPr lang="en-US" sz="3200" dirty="0"/>
          </a:p>
        </p:txBody>
      </p:sp>
      <p:sp>
        <p:nvSpPr>
          <p:cNvPr id="9" name="Text 7"/>
          <p:cNvSpPr txBox="1"/>
          <p:nvPr/>
        </p:nvSpPr>
        <p:spPr>
          <a:xfrm>
            <a:off x="457200" y="3063240"/>
            <a:ext cx="2103120" cy="4114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false positive rate (paper 9.17%)</a:t>
            </a:r>
            <a:endParaRPr lang="en-US" sz="1150" dirty="0"/>
          </a:p>
        </p:txBody>
      </p:sp>
      <p:sp>
        <p:nvSpPr>
          <p:cNvPr id="10" name="Text 8"/>
          <p:cNvSpPr txBox="1"/>
          <p:nvPr/>
        </p:nvSpPr>
        <p:spPr>
          <a:xfrm>
            <a:off x="2651760" y="2514600"/>
            <a:ext cx="1828800" cy="548640"/>
          </a:xfrm>
          <a:prstGeom prst="rect">
            <a:avLst/>
          </a:prstGeom>
          <a:noFill/>
          <a:ln/>
        </p:spPr>
        <p:txBody>
          <a:bodyPr wrap="square" lIns="0" tIns="0" rIns="0" bIns="0" rtlCol="0" anchor="ctr"/>
          <a:lstStyle/>
          <a:p>
            <a:pPr indent="0" marL="0">
              <a:buNone/>
            </a:pPr>
            <a:r>
              <a:rPr lang="en-US" sz="3200" b="1" dirty="0">
                <a:solidFill>
                  <a:srgbClr val="B8660B"/>
                </a:solidFill>
                <a:latin typeface="Arial" pitchFamily="34" charset="0"/>
                <a:ea typeface="Arial" pitchFamily="34" charset="-122"/>
                <a:cs typeface="Arial" pitchFamily="34" charset="-120"/>
              </a:rPr>
              <a:t>1.29%</a:t>
            </a:r>
            <a:endParaRPr lang="en-US" sz="3200" dirty="0"/>
          </a:p>
        </p:txBody>
      </p:sp>
      <p:sp>
        <p:nvSpPr>
          <p:cNvPr id="11" name="Text 9"/>
          <p:cNvSpPr txBox="1"/>
          <p:nvPr/>
        </p:nvSpPr>
        <p:spPr>
          <a:xfrm>
            <a:off x="2651760" y="3063240"/>
            <a:ext cx="1828800" cy="4114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attacks missed (FNR)</a:t>
            </a:r>
            <a:endParaRPr lang="en-US" sz="1150" dirty="0"/>
          </a:p>
        </p:txBody>
      </p:sp>
      <p:sp>
        <p:nvSpPr>
          <p:cNvPr id="12" name="Text 10"/>
          <p:cNvSpPr txBox="1"/>
          <p:nvPr/>
        </p:nvSpPr>
        <p:spPr>
          <a:xfrm>
            <a:off x="457200" y="3794760"/>
            <a:ext cx="4114800" cy="548640"/>
          </a:xfrm>
          <a:prstGeom prst="rect">
            <a:avLst/>
          </a:prstGeom>
          <a:noFill/>
          <a:ln/>
        </p:spPr>
        <p:txBody>
          <a:bodyPr wrap="square" lIns="0" tIns="0" rIns="0" bIns="0"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Errors: 2,300 attacks missed vs only 8 false alarms.</a:t>
            </a:r>
            <a:endParaRPr lang="en-US" sz="1300" dirty="0"/>
          </a:p>
        </p:txBody>
      </p:sp>
      <p:pic>
        <p:nvPicPr>
          <p:cNvPr id="13" name="Image 0" descr="C:\Users\ayush\Desktop\Coding\IDS\iot_ids_cnn_lstm\outputs\figures\10_confusion_matrix_normalized.png">    </p:cNvPr>
          <p:cNvPicPr>
            <a:picLocks noChangeAspect="1"/>
          </p:cNvPicPr>
          <p:nvPr/>
        </p:nvPicPr>
        <p:blipFill>
          <a:blip r:embed="rId1"/>
          <a:stretch>
            <a:fillRect/>
          </a:stretch>
        </p:blipFill>
        <p:spPr>
          <a:xfrm>
            <a:off x="4846320" y="1188720"/>
            <a:ext cx="3840480" cy="32909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Our reproduction vs the paper</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Paper values from the published abstract; precision/recall only in the full text</a:t>
            </a:r>
            <a:endParaRPr lang="en-US" sz="1300" dirty="0"/>
          </a:p>
        </p:txBody>
      </p:sp>
      <p:graphicFrame>
        <p:nvGraphicFramePr>
          <p:cNvPr id="4" name="Chart 0" descr=""/>
          <p:cNvGraphicFramePr/>
          <p:nvPr/>
        </p:nvGraphicFramePr>
        <p:xfrm>
          <a:off x="457200" y="1280160"/>
          <a:ext cx="475488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0" y="1371600"/>
          <a:ext cx="3200400" cy="914400"/>
        </p:xfrm>
        <a:graphic>
          <a:graphicData uri="http://schemas.openxmlformats.org/drawingml/2006/table">
            <a:tbl>
              <a:tblPr/>
              <a:tblGrid>
                <a:gridCol w="1097280"/>
                <a:gridCol w="1005840"/>
                <a:gridCol w="1097280"/>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0F1B2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Paper</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0F1B2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Ours</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0F1B2D"/>
                    </a:solidFill>
                  </a:tcPr>
                </a:tc>
              </a:tr>
              <a:tr h="347472">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98.42%</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98.74%</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347472">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98.57%</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98.86%</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347472">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FPR</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9.17%</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0.16%</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347472">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Loss</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0.0275</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0.0443</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bl>
          </a:graphicData>
        </a:graphic>
      </p:graphicFrame>
      <p:sp>
        <p:nvSpPr>
          <p:cNvPr id="6" name="Text 2"/>
          <p:cNvSpPr txBox="1"/>
          <p:nvPr/>
        </p:nvSpPr>
        <p:spPr>
          <a:xfrm>
            <a:off x="5486400" y="3246120"/>
            <a:ext cx="3200400" cy="11887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FPR gap: the paper flags about 1 in 11 benign flows. Our class-weighted model almost never does; retrained without class weights our FPR is 6.71%, close to the paper's.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Accuracy hides the real story</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MCC is robust to class imbalance - and the ranking changes</a:t>
            </a:r>
            <a:endParaRPr lang="en-US" sz="1300" dirty="0"/>
          </a:p>
        </p:txBody>
      </p:sp>
      <p:graphicFrame>
        <p:nvGraphicFramePr>
          <p:cNvPr id="4" name="Chart 0" descr=""/>
          <p:cNvGraphicFramePr/>
          <p:nvPr/>
        </p:nvGraphicFramePr>
        <p:xfrm>
          <a:off x="457200" y="1234440"/>
          <a:ext cx="4937760" cy="33832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760720" y="1234440"/>
            <a:ext cx="2926080" cy="548640"/>
          </a:xfrm>
          <a:prstGeom prst="rect">
            <a:avLst/>
          </a:prstGeom>
          <a:noFill/>
          <a:ln/>
        </p:spPr>
        <p:txBody>
          <a:bodyPr wrap="square" lIns="0" tIns="0" rIns="0" bIns="0" rtlCol="0" anchor="ctr"/>
          <a:lstStyle/>
          <a:p>
            <a:pPr indent="0" marL="0">
              <a:buNone/>
            </a:pPr>
            <a:r>
              <a:rPr lang="en-US" sz="2600" b="1" dirty="0">
                <a:solidFill>
                  <a:srgbClr val="0E8C80"/>
                </a:solidFill>
                <a:latin typeface="Arial" pitchFamily="34" charset="0"/>
                <a:ea typeface="Arial" pitchFamily="34" charset="-122"/>
                <a:cs typeface="Arial" pitchFamily="34" charset="-120"/>
              </a:rPr>
              <a:t>97.34%</a:t>
            </a:r>
            <a:endParaRPr lang="en-US" sz="2600" dirty="0"/>
          </a:p>
        </p:txBody>
      </p:sp>
      <p:sp>
        <p:nvSpPr>
          <p:cNvPr id="6" name="Text 3"/>
          <p:cNvSpPr txBox="1"/>
          <p:nvPr/>
        </p:nvSpPr>
        <p:spPr>
          <a:xfrm>
            <a:off x="5760720" y="1783080"/>
            <a:ext cx="2926080" cy="4114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accuracy for 'always malicious' - with MCC 0</a:t>
            </a:r>
            <a:endParaRPr lang="en-US" sz="1150" dirty="0"/>
          </a:p>
        </p:txBody>
      </p:sp>
      <p:sp>
        <p:nvSpPr>
          <p:cNvPr id="7" name="Text 4"/>
          <p:cNvSpPr txBox="1"/>
          <p:nvPr/>
        </p:nvSpPr>
        <p:spPr>
          <a:xfrm>
            <a:off x="5760720" y="2377440"/>
            <a:ext cx="2926080" cy="548640"/>
          </a:xfrm>
          <a:prstGeom prst="rect">
            <a:avLst/>
          </a:prstGeom>
          <a:noFill/>
          <a:ln/>
        </p:spPr>
        <p:txBody>
          <a:bodyPr wrap="square" lIns="0" tIns="0" rIns="0" bIns="0" rtlCol="0" anchor="ctr"/>
          <a:lstStyle/>
          <a:p>
            <a:pPr indent="0" marL="0">
              <a:buNone/>
            </a:pPr>
            <a:r>
              <a:rPr lang="en-US" sz="2600" b="1" dirty="0">
                <a:solidFill>
                  <a:srgbClr val="0E8C80"/>
                </a:solidFill>
                <a:latin typeface="Arial" pitchFamily="34" charset="0"/>
                <a:ea typeface="Arial" pitchFamily="34" charset="-122"/>
                <a:cs typeface="Arial" pitchFamily="34" charset="-120"/>
              </a:rPr>
              <a:t>0.818 vs 0.826</a:t>
            </a:r>
            <a:endParaRPr lang="en-US" sz="2600" dirty="0"/>
          </a:p>
        </p:txBody>
      </p:sp>
      <p:sp>
        <p:nvSpPr>
          <p:cNvPr id="8" name="Text 5"/>
          <p:cNvSpPr txBox="1"/>
          <p:nvPr/>
        </p:nvSpPr>
        <p:spPr>
          <a:xfrm>
            <a:off x="5760720" y="2926080"/>
            <a:ext cx="2926080" cy="4114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MCC of CNN-LSTM vs CNN-only: the LSTM branch adds nothing</a:t>
            </a:r>
            <a:endParaRPr lang="en-US" sz="1150" dirty="0"/>
          </a:p>
        </p:txBody>
      </p:sp>
      <p:sp>
        <p:nvSpPr>
          <p:cNvPr id="9" name="Text 6"/>
          <p:cNvSpPr txBox="1"/>
          <p:nvPr/>
        </p:nvSpPr>
        <p:spPr>
          <a:xfrm>
            <a:off x="5760720" y="3520440"/>
            <a:ext cx="2926080" cy="548640"/>
          </a:xfrm>
          <a:prstGeom prst="rect">
            <a:avLst/>
          </a:prstGeom>
          <a:noFill/>
          <a:ln/>
        </p:spPr>
        <p:txBody>
          <a:bodyPr wrap="square" lIns="0" tIns="0" rIns="0" bIns="0" rtlCol="0" anchor="ctr"/>
          <a:lstStyle/>
          <a:p>
            <a:pPr indent="0" marL="0">
              <a:buNone/>
            </a:pPr>
            <a:r>
              <a:rPr lang="en-US" sz="2600" b="1" dirty="0">
                <a:solidFill>
                  <a:srgbClr val="C0392B"/>
                </a:solidFill>
                <a:latin typeface="Arial" pitchFamily="34" charset="0"/>
                <a:ea typeface="Arial" pitchFamily="34" charset="-122"/>
                <a:cs typeface="Arial" pitchFamily="34" charset="-120"/>
              </a:rPr>
              <a:t>99.61%</a:t>
            </a:r>
            <a:endParaRPr lang="en-US" sz="2600" dirty="0"/>
          </a:p>
        </p:txBody>
      </p:sp>
      <p:sp>
        <p:nvSpPr>
          <p:cNvPr id="10" name="Text 7"/>
          <p:cNvSpPr txBox="1"/>
          <p:nvPr/>
        </p:nvSpPr>
        <p:spPr>
          <a:xfrm>
            <a:off x="5760720" y="4069080"/>
            <a:ext cx="2926080" cy="4114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Random Forest accuracy, MCC 0.930 - best model</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Where the model fails</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Share of test flows misclassified, per original traffic type</a:t>
            </a:r>
            <a:endParaRPr lang="en-US" sz="1300" dirty="0"/>
          </a:p>
        </p:txBody>
      </p:sp>
      <p:pic>
        <p:nvPicPr>
          <p:cNvPr id="4" name="Image 0" descr="C:\Users\ayush\Desktop\Coding\IDS\iot_ids_cnn_lstm\outputs\figures\20_error_by_attack_type.png">    </p:cNvPr>
          <p:cNvPicPr>
            <a:picLocks noChangeAspect="1"/>
          </p:cNvPicPr>
          <p:nvPr/>
        </p:nvPicPr>
        <p:blipFill>
          <a:blip r:embed="rId1"/>
          <a:stretch>
            <a:fillRect/>
          </a:stretch>
        </p:blipFill>
        <p:spPr>
          <a:xfrm>
            <a:off x="457200" y="1188720"/>
            <a:ext cx="4937760" cy="3455395"/>
          </a:xfrm>
          <a:prstGeom prst="rect">
            <a:avLst/>
          </a:prstGeom>
        </p:spPr>
      </p:pic>
      <p:sp>
        <p:nvSpPr>
          <p:cNvPr id="5" name="Text 2"/>
          <p:cNvSpPr txBox="1"/>
          <p:nvPr/>
        </p:nvSpPr>
        <p:spPr>
          <a:xfrm>
            <a:off x="5669280" y="1234440"/>
            <a:ext cx="3017520" cy="3474720"/>
          </a:xfrm>
          <a:prstGeom prst="rect">
            <a:avLst/>
          </a:prstGeom>
          <a:noFill/>
          <a:ln/>
        </p:spPr>
        <p:txBody>
          <a:bodyPr wrap="square" lIns="0" tIns="0" rIns="0" bIns="0" rtlCol="0" anchor="t"/>
          <a:lstStyle/>
          <a:p>
            <a:pPr indent="0" marL="0">
              <a:buNone/>
            </a:pPr>
            <a:r>
              <a:rPr lang="en-US" sz="1250" b="1" dirty="0">
                <a:solidFill>
                  <a:srgbClr val="0E8C80"/>
                </a:solidFill>
                <a:latin typeface="Calibri" pitchFamily="34" charset="0"/>
                <a:ea typeface="Calibri" pitchFamily="34" charset="-122"/>
                <a:cs typeface="Calibri" pitchFamily="34" charset="-120"/>
              </a:rPr>
              <a:t>Floods are easy</a:t>
            </a:r>
            <a:endParaRPr lang="en-US" sz="1250" dirty="0"/>
          </a:p>
          <a:p>
            <a:pPr indent="0" marL="0">
              <a:buNone/>
            </a:pPr>
            <a:r>
              <a:rPr lang="en-US" sz="1250" dirty="0">
                <a:solidFill>
                  <a:srgbClr val="1F2937"/>
                </a:solidFill>
                <a:latin typeface="Calibri" pitchFamily="34" charset="0"/>
                <a:ea typeface="Calibri" pitchFamily="34" charset="-122"/>
                <a:cs typeface="Calibri" pitchFamily="34" charset="-120"/>
              </a:rPr>
              <a:t>DDoS / DoS: close to 0% missed (e.g. DDoS-SYN 0%).</a:t>
            </a:r>
            <a:endParaRPr lang="en-US" sz="1250" dirty="0"/>
          </a:p>
          <a:p>
            <a:pPr indent="0" marL="0">
              <a:buNone/>
            </a:pPr>
            <a:r>
              <a:rPr lang="en-US" sz="1250" dirty="0">
                <a:solidFill>
                  <a:srgbClr val="1F2937"/>
                </a:solidFill>
                <a:latin typeface="Calibri" pitchFamily="34" charset="0"/>
                <a:ea typeface="Calibri" pitchFamily="34" charset="-122"/>
                <a:cs typeface="Calibri" pitchFamily="34" charset="-120"/>
              </a:rPr>
              <a:t> </a:t>
            </a:r>
            <a:endParaRPr lang="en-US" sz="1250" dirty="0"/>
          </a:p>
          <a:p>
            <a:pPr indent="0" marL="0">
              <a:buNone/>
            </a:pPr>
            <a:r>
              <a:rPr lang="en-US" sz="1250" b="1" dirty="0">
                <a:solidFill>
                  <a:srgbClr val="C0392B"/>
                </a:solidFill>
                <a:latin typeface="Calibri" pitchFamily="34" charset="0"/>
                <a:ea typeface="Calibri" pitchFamily="34" charset="-122"/>
                <a:cs typeface="Calibri" pitchFamily="34" charset="-120"/>
              </a:rPr>
              <a:t>Quiet attacks are hard</a:t>
            </a:r>
            <a:endParaRPr lang="en-US" sz="1250" dirty="0"/>
          </a:p>
          <a:p>
            <a:pPr indent="0" marL="0">
              <a:buNone/>
            </a:pPr>
            <a:r>
              <a:rPr lang="en-US" sz="1250" dirty="0">
                <a:solidFill>
                  <a:srgbClr val="1F2937"/>
                </a:solidFill>
                <a:latin typeface="Calibri" pitchFamily="34" charset="0"/>
                <a:ea typeface="Calibri" pitchFamily="34" charset="-122"/>
                <a:cs typeface="Calibri" pitchFamily="34" charset="-120"/>
              </a:rPr>
              <a:t>Recon-OSScan 80%, DNS spoofing 75%, ARP spoofing 42% missed.</a:t>
            </a:r>
            <a:endParaRPr lang="en-US" sz="1250" dirty="0"/>
          </a:p>
          <a:p>
            <a:pPr indent="0" marL="0">
              <a:buNone/>
            </a:pPr>
            <a:r>
              <a:rPr lang="en-US" sz="1250" dirty="0">
                <a:solidFill>
                  <a:srgbClr val="1F2937"/>
                </a:solidFill>
                <a:latin typeface="Calibri" pitchFamily="34" charset="0"/>
                <a:ea typeface="Calibri" pitchFamily="34" charset="-122"/>
                <a:cs typeface="Calibri" pitchFamily="34" charset="-120"/>
              </a:rPr>
              <a:t> </a:t>
            </a:r>
            <a:endParaRPr lang="en-US" sz="1250" dirty="0"/>
          </a:p>
          <a:p>
            <a:pPr indent="0" marL="0">
              <a:buNone/>
            </a:pPr>
            <a:r>
              <a:rPr lang="en-US" sz="1250" b="1" dirty="0">
                <a:solidFill>
                  <a:srgbClr val="C0392B"/>
                </a:solidFill>
                <a:latin typeface="Calibri" pitchFamily="34" charset="0"/>
                <a:ea typeface="Calibri" pitchFamily="34" charset="-122"/>
                <a:cs typeface="Calibri" pitchFamily="34" charset="-120"/>
              </a:rPr>
              <a:t>Web attacks: all missed</a:t>
            </a:r>
            <a:endParaRPr lang="en-US" sz="1250" dirty="0"/>
          </a:p>
          <a:p>
            <a:pPr indent="0" marL="0">
              <a:buNone/>
            </a:pPr>
            <a:r>
              <a:rPr lang="en-US" sz="1250" dirty="0">
                <a:solidFill>
                  <a:srgbClr val="1F2937"/>
                </a:solidFill>
                <a:latin typeface="Calibri" pitchFamily="34" charset="0"/>
                <a:ea typeface="Calibri" pitchFamily="34" charset="-122"/>
                <a:cs typeface="Calibri" pitchFamily="34" charset="-120"/>
              </a:rPr>
              <a:t>SQL injection, XSS, backdoor: only 6-27 test flows each; at flow level they look like normal traffic.</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Tuning the trade-off: missed attacks vs false alarms</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Threshold chosen on validation data only; test set untouched</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3017520"/>
                <a:gridCol w="1005840"/>
                <a:gridCol w="822960"/>
                <a:gridCol w="1188720"/>
                <a:gridCol w="1097280"/>
                <a:gridCol w="109728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Setting</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0F1B2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0F1B2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MCC</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0F1B2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Missed attacks</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0F1B2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False alarms</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0F1B2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FPR</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0F1B2D"/>
                    </a:solidFill>
                  </a:tcPr>
                </a:tc>
              </a:tr>
              <a:tr h="384048">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Class weights, threshold 0.5 (main)</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BE9E7"/>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98.74%</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BE9E7"/>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0.818</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BE9E7"/>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2,300</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BE9E7"/>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BE9E7"/>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0.16%</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BE9E7"/>
                    </a:solidFill>
                  </a:tcPr>
                </a:tc>
              </a:tr>
              <a:tr h="384048">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Class weights, threshold 0.048</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99.08%</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0.846</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1,442</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257</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5.26%</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No class weights, threshold 0.5</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99.30%</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0.875</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951</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328</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6.71%</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No class weights, threshold 0.543</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99.28%</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0.873</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1,058</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270</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5.52%</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3611880"/>
            <a:ext cx="8229600" cy="73152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There is no free lunch: every setting moves errors between the two columns. For an IDS the right choice depends on whether analysts can tolerate false alarms or not.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Stable, and small enough for the edge</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5-fold cross-validation and TensorFlow Lite export</a:t>
            </a:r>
            <a:endParaRPr lang="en-US" sz="1300" dirty="0"/>
          </a:p>
        </p:txBody>
      </p:sp>
      <p:sp>
        <p:nvSpPr>
          <p:cNvPr id="4" name="Text 2"/>
          <p:cNvSpPr txBox="1"/>
          <p:nvPr/>
        </p:nvSpPr>
        <p:spPr>
          <a:xfrm>
            <a:off x="457200" y="1280160"/>
            <a:ext cx="2011680" cy="548640"/>
          </a:xfrm>
          <a:prstGeom prst="rect">
            <a:avLst/>
          </a:prstGeom>
          <a:noFill/>
          <a:ln/>
        </p:spPr>
        <p:txBody>
          <a:bodyPr wrap="square" lIns="0" tIns="0" rIns="0" bIns="0" rtlCol="0" anchor="ctr"/>
          <a:lstStyle/>
          <a:p>
            <a:pPr indent="0" marL="0">
              <a:buNone/>
            </a:pPr>
            <a:r>
              <a:rPr lang="en-US" sz="2800" b="1" dirty="0">
                <a:solidFill>
                  <a:srgbClr val="0E8C80"/>
                </a:solidFill>
                <a:latin typeface="Arial" pitchFamily="34" charset="0"/>
                <a:ea typeface="Arial" pitchFamily="34" charset="-122"/>
                <a:cs typeface="Arial" pitchFamily="34" charset="-120"/>
              </a:rPr>
              <a:t>98.14%</a:t>
            </a:r>
            <a:endParaRPr lang="en-US" sz="2800" dirty="0"/>
          </a:p>
        </p:txBody>
      </p:sp>
      <p:sp>
        <p:nvSpPr>
          <p:cNvPr id="5" name="Text 3"/>
          <p:cNvSpPr txBox="1"/>
          <p:nvPr/>
        </p:nvSpPr>
        <p:spPr>
          <a:xfrm>
            <a:off x="457200" y="1828800"/>
            <a:ext cx="2011680" cy="4114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CV accuracy, +/- 0.13 pp over 5 folds</a:t>
            </a:r>
            <a:endParaRPr lang="en-US" sz="1150" dirty="0"/>
          </a:p>
        </p:txBody>
      </p:sp>
      <p:sp>
        <p:nvSpPr>
          <p:cNvPr id="6" name="Text 4"/>
          <p:cNvSpPr txBox="1"/>
          <p:nvPr/>
        </p:nvSpPr>
        <p:spPr>
          <a:xfrm>
            <a:off x="457200" y="2377440"/>
            <a:ext cx="2011680" cy="548640"/>
          </a:xfrm>
          <a:prstGeom prst="rect">
            <a:avLst/>
          </a:prstGeom>
          <a:noFill/>
          <a:ln/>
        </p:spPr>
        <p:txBody>
          <a:bodyPr wrap="square" lIns="0" tIns="0" rIns="0" bIns="0" rtlCol="0" anchor="ctr"/>
          <a:lstStyle/>
          <a:p>
            <a:pPr indent="0" marL="0">
              <a:buNone/>
            </a:pPr>
            <a:r>
              <a:rPr lang="en-US" sz="2800" b="1" dirty="0">
                <a:solidFill>
                  <a:srgbClr val="0E8C80"/>
                </a:solidFill>
                <a:latin typeface="Arial" pitchFamily="34" charset="0"/>
                <a:ea typeface="Arial" pitchFamily="34" charset="-122"/>
                <a:cs typeface="Arial" pitchFamily="34" charset="-120"/>
              </a:rPr>
              <a:t>0.20 MB</a:t>
            </a:r>
            <a:endParaRPr lang="en-US" sz="2800" dirty="0"/>
          </a:p>
        </p:txBody>
      </p:sp>
      <p:sp>
        <p:nvSpPr>
          <p:cNvPr id="7" name="Text 5"/>
          <p:cNvSpPr txBox="1"/>
          <p:nvPr/>
        </p:nvSpPr>
        <p:spPr>
          <a:xfrm>
            <a:off x="457200" y="2926080"/>
            <a:ext cx="2011680" cy="4114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int8 TFLite model size</a:t>
            </a:r>
            <a:endParaRPr lang="en-US" sz="1150" dirty="0"/>
          </a:p>
        </p:txBody>
      </p:sp>
      <p:sp>
        <p:nvSpPr>
          <p:cNvPr id="8" name="Text 6"/>
          <p:cNvSpPr txBox="1"/>
          <p:nvPr/>
        </p:nvSpPr>
        <p:spPr>
          <a:xfrm>
            <a:off x="2560320" y="2377440"/>
            <a:ext cx="2011680" cy="548640"/>
          </a:xfrm>
          <a:prstGeom prst="rect">
            <a:avLst/>
          </a:prstGeom>
          <a:noFill/>
          <a:ln/>
        </p:spPr>
        <p:txBody>
          <a:bodyPr wrap="square" lIns="0" tIns="0" rIns="0" bIns="0" rtlCol="0" anchor="ctr"/>
          <a:lstStyle/>
          <a:p>
            <a:pPr indent="0" marL="0">
              <a:buNone/>
            </a:pPr>
            <a:r>
              <a:rPr lang="en-US" sz="2800" b="1" dirty="0">
                <a:solidFill>
                  <a:srgbClr val="0E8C80"/>
                </a:solidFill>
                <a:latin typeface="Arial" pitchFamily="34" charset="0"/>
                <a:ea typeface="Arial" pitchFamily="34" charset="-122"/>
                <a:cs typeface="Arial" pitchFamily="34" charset="-120"/>
              </a:rPr>
              <a:t>0.037 ms</a:t>
            </a:r>
            <a:endParaRPr lang="en-US" sz="2800" dirty="0"/>
          </a:p>
        </p:txBody>
      </p:sp>
      <p:sp>
        <p:nvSpPr>
          <p:cNvPr id="9" name="Text 7"/>
          <p:cNvSpPr txBox="1"/>
          <p:nvPr/>
        </p:nvSpPr>
        <p:spPr>
          <a:xfrm>
            <a:off x="2560320" y="2926080"/>
            <a:ext cx="2011680" cy="4114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per flow on CPU, batch 1</a:t>
            </a:r>
            <a:endParaRPr lang="en-US" sz="1150" dirty="0"/>
          </a:p>
        </p:txBody>
      </p:sp>
      <p:sp>
        <p:nvSpPr>
          <p:cNvPr id="10" name="Text 8"/>
          <p:cNvSpPr txBox="1"/>
          <p:nvPr/>
        </p:nvSpPr>
        <p:spPr>
          <a:xfrm>
            <a:off x="2560320" y="1280160"/>
            <a:ext cx="2011680" cy="548640"/>
          </a:xfrm>
          <a:prstGeom prst="rect">
            <a:avLst/>
          </a:prstGeom>
          <a:noFill/>
          <a:ln/>
        </p:spPr>
        <p:txBody>
          <a:bodyPr wrap="square" lIns="0" tIns="0" rIns="0" bIns="0" rtlCol="0" anchor="ctr"/>
          <a:lstStyle/>
          <a:p>
            <a:pPr indent="0" marL="0">
              <a:buNone/>
            </a:pPr>
            <a:r>
              <a:rPr lang="en-US" sz="2800" b="1" dirty="0">
                <a:solidFill>
                  <a:srgbClr val="0E8C80"/>
                </a:solidFill>
                <a:latin typeface="Arial" pitchFamily="34" charset="0"/>
                <a:ea typeface="Arial" pitchFamily="34" charset="-122"/>
                <a:cs typeface="Arial" pitchFamily="34" charset="-120"/>
              </a:rPr>
              <a:t>None</a:t>
            </a:r>
            <a:endParaRPr lang="en-US" sz="2800" dirty="0"/>
          </a:p>
        </p:txBody>
      </p:sp>
      <p:sp>
        <p:nvSpPr>
          <p:cNvPr id="11" name="Text 9"/>
          <p:cNvSpPr txBox="1"/>
          <p:nvPr/>
        </p:nvSpPr>
        <p:spPr>
          <a:xfrm>
            <a:off x="2560320" y="1828800"/>
            <a:ext cx="2011680" cy="4114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accuracy lost by int8 quantization</a:t>
            </a:r>
            <a:endParaRPr lang="en-US" sz="1150" dirty="0"/>
          </a:p>
        </p:txBody>
      </p:sp>
      <p:sp>
        <p:nvSpPr>
          <p:cNvPr id="12" name="Text 10"/>
          <p:cNvSpPr txBox="1"/>
          <p:nvPr/>
        </p:nvSpPr>
        <p:spPr>
          <a:xfrm>
            <a:off x="457200" y="3520440"/>
            <a:ext cx="4114800" cy="54864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A Raspberry Pi could run this model on live flow features.</a:t>
            </a:r>
            <a:endParaRPr lang="en-US" sz="1300" dirty="0"/>
          </a:p>
        </p:txBody>
      </p:sp>
      <p:pic>
        <p:nvPicPr>
          <p:cNvPr id="13" name="Image 0" descr="C:\Users\ayush\Desktop\Coding\IDS\iot_ids_cnn_lstm\outputs\animations\traffic_replay_final_16x9.png">    </p:cNvPr>
          <p:cNvPicPr>
            <a:picLocks noChangeAspect="1"/>
          </p:cNvPicPr>
          <p:nvPr/>
        </p:nvPicPr>
        <p:blipFill>
          <a:blip r:embed="rId1"/>
          <a:stretch>
            <a:fillRect/>
          </a:stretch>
        </p:blipFill>
        <p:spPr>
          <a:xfrm>
            <a:off x="4846320" y="1280160"/>
            <a:ext cx="3840480" cy="2160000"/>
          </a:xfrm>
          <a:prstGeom prst="rect">
            <a:avLst/>
          </a:prstGeom>
        </p:spPr>
      </p:pic>
      <p:sp>
        <p:nvSpPr>
          <p:cNvPr id="14" name="Text 11"/>
          <p:cNvSpPr txBox="1"/>
          <p:nvPr/>
        </p:nvSpPr>
        <p:spPr>
          <a:xfrm>
            <a:off x="4846320" y="3474720"/>
            <a:ext cx="3840480" cy="457200"/>
          </a:xfrm>
          <a:prstGeom prst="rect">
            <a:avLst/>
          </a:prstGeom>
          <a:noFill/>
          <a:ln/>
        </p:spPr>
        <p:txBody>
          <a:bodyPr wrap="square" lIns="0" tIns="0" rIns="0" bIns="0" rtlCol="0" anchor="ctr"/>
          <a:lstStyle/>
          <a:p>
            <a:pPr indent="0" marL="0">
              <a:buNone/>
            </a:pPr>
            <a:r>
              <a:rPr lang="en-US" sz="1050" dirty="0">
                <a:solidFill>
                  <a:srgbClr val="5B6472"/>
                </a:solidFill>
                <a:latin typeface="Calibri" pitchFamily="34" charset="0"/>
                <a:ea typeface="Calibri" pitchFamily="34" charset="-122"/>
                <a:cs typeface="Calibri" pitchFamily="34" charset="-120"/>
              </a:rPr>
              <a:t>Live-replay demo: real test flows, real model output (see traffic_replay.mp4)</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Why our numbers may differ from the paper</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Documented in deviation_analysis.txt</a:t>
            </a:r>
            <a:endParaRPr lang="en-US" sz="1300" dirty="0"/>
          </a:p>
        </p:txBody>
      </p:sp>
      <p:sp>
        <p:nvSpPr>
          <p:cNvPr id="4" name="Shape 2"/>
          <p:cNvSpPr/>
          <p:nvPr/>
        </p:nvSpPr>
        <p:spPr>
          <a:xfrm>
            <a:off x="457200" y="1325880"/>
            <a:ext cx="2606040" cy="1371600"/>
          </a:xfrm>
          <a:prstGeom prst="roundRect">
            <a:avLst>
              <a:gd name="adj" fmla="val 5333"/>
            </a:avLst>
          </a:prstGeom>
          <a:solidFill>
            <a:srgbClr val="F1F5F8"/>
          </a:solidFill>
          <a:ln w="12700">
            <a:solidFill>
              <a:srgbClr val="F1F5F8"/>
            </a:solidFill>
            <a:prstDash val="solid"/>
          </a:ln>
        </p:spPr>
      </p:sp>
      <p:sp>
        <p:nvSpPr>
          <p:cNvPr id="5" name="Shape 3"/>
          <p:cNvSpPr/>
          <p:nvPr/>
        </p:nvSpPr>
        <p:spPr>
          <a:xfrm>
            <a:off x="640080" y="1508760"/>
            <a:ext cx="384048" cy="384048"/>
          </a:xfrm>
          <a:prstGeom prst="ellipse">
            <a:avLst/>
          </a:prstGeom>
          <a:solidFill>
            <a:srgbClr val="0E8C80"/>
          </a:solidFill>
          <a:ln w="12700">
            <a:solidFill>
              <a:srgbClr val="0E8C80"/>
            </a:solidFill>
            <a:prstDash val="solid"/>
          </a:ln>
        </p:spPr>
      </p:sp>
      <p:sp>
        <p:nvSpPr>
          <p:cNvPr id="6" name="Text 4"/>
          <p:cNvSpPr txBox="1"/>
          <p:nvPr/>
        </p:nvSpPr>
        <p:spPr>
          <a:xfrm>
            <a:off x="640080" y="15087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143000" y="1508760"/>
            <a:ext cx="1783080" cy="384048"/>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Sample</a:t>
            </a:r>
            <a:endParaRPr lang="en-US" sz="1400" dirty="0"/>
          </a:p>
        </p:txBody>
      </p:sp>
      <p:sp>
        <p:nvSpPr>
          <p:cNvPr id="8" name="Text 6"/>
          <p:cNvSpPr txBox="1"/>
          <p:nvPr/>
        </p:nvSpPr>
        <p:spPr>
          <a:xfrm>
            <a:off x="640080" y="1984248"/>
            <a:ext cx="2286000" cy="6400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1.4M-row random sample vs paper's own 1.19M subset</a:t>
            </a:r>
            <a:endParaRPr lang="en-US" sz="1150" dirty="0"/>
          </a:p>
        </p:txBody>
      </p:sp>
      <p:sp>
        <p:nvSpPr>
          <p:cNvPr id="9" name="Shape 7"/>
          <p:cNvSpPr/>
          <p:nvPr/>
        </p:nvSpPr>
        <p:spPr>
          <a:xfrm>
            <a:off x="3246120" y="1325880"/>
            <a:ext cx="2606040" cy="1371600"/>
          </a:xfrm>
          <a:prstGeom prst="roundRect">
            <a:avLst>
              <a:gd name="adj" fmla="val 5333"/>
            </a:avLst>
          </a:prstGeom>
          <a:solidFill>
            <a:srgbClr val="F1F5F8"/>
          </a:solidFill>
          <a:ln w="12700">
            <a:solidFill>
              <a:srgbClr val="F1F5F8"/>
            </a:solidFill>
            <a:prstDash val="solid"/>
          </a:ln>
        </p:spPr>
      </p:sp>
      <p:sp>
        <p:nvSpPr>
          <p:cNvPr id="10" name="Shape 8"/>
          <p:cNvSpPr/>
          <p:nvPr/>
        </p:nvSpPr>
        <p:spPr>
          <a:xfrm>
            <a:off x="3429000" y="1508760"/>
            <a:ext cx="384048" cy="384048"/>
          </a:xfrm>
          <a:prstGeom prst="ellipse">
            <a:avLst/>
          </a:prstGeom>
          <a:solidFill>
            <a:srgbClr val="0E8C80"/>
          </a:solidFill>
          <a:ln w="12700">
            <a:solidFill>
              <a:srgbClr val="0E8C80"/>
            </a:solidFill>
            <a:prstDash val="solid"/>
          </a:ln>
        </p:spPr>
      </p:sp>
      <p:sp>
        <p:nvSpPr>
          <p:cNvPr id="11" name="Text 9"/>
          <p:cNvSpPr txBox="1"/>
          <p:nvPr/>
        </p:nvSpPr>
        <p:spPr>
          <a:xfrm>
            <a:off x="3429000" y="15087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2" name="Text 10"/>
          <p:cNvSpPr txBox="1"/>
          <p:nvPr/>
        </p:nvSpPr>
        <p:spPr>
          <a:xfrm>
            <a:off x="3931920" y="1508760"/>
            <a:ext cx="1783080" cy="384048"/>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Split</a:t>
            </a:r>
            <a:endParaRPr lang="en-US" sz="1400" dirty="0"/>
          </a:p>
        </p:txBody>
      </p:sp>
      <p:sp>
        <p:nvSpPr>
          <p:cNvPr id="13" name="Text 11"/>
          <p:cNvSpPr txBox="1"/>
          <p:nvPr/>
        </p:nvSpPr>
        <p:spPr>
          <a:xfrm>
            <a:off x="3429000" y="1984248"/>
            <a:ext cx="2286000" cy="6400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70/15/15 stratified vs paper's 80/20 + separate test files</a:t>
            </a:r>
            <a:endParaRPr lang="en-US" sz="1150" dirty="0"/>
          </a:p>
        </p:txBody>
      </p:sp>
      <p:sp>
        <p:nvSpPr>
          <p:cNvPr id="14" name="Shape 12"/>
          <p:cNvSpPr/>
          <p:nvPr/>
        </p:nvSpPr>
        <p:spPr>
          <a:xfrm>
            <a:off x="6035040" y="1325880"/>
            <a:ext cx="2606040" cy="1371600"/>
          </a:xfrm>
          <a:prstGeom prst="roundRect">
            <a:avLst>
              <a:gd name="adj" fmla="val 5333"/>
            </a:avLst>
          </a:prstGeom>
          <a:solidFill>
            <a:srgbClr val="F1F5F8"/>
          </a:solidFill>
          <a:ln w="12700">
            <a:solidFill>
              <a:srgbClr val="F1F5F8"/>
            </a:solidFill>
            <a:prstDash val="solid"/>
          </a:ln>
        </p:spPr>
      </p:sp>
      <p:sp>
        <p:nvSpPr>
          <p:cNvPr id="15" name="Shape 13"/>
          <p:cNvSpPr/>
          <p:nvPr/>
        </p:nvSpPr>
        <p:spPr>
          <a:xfrm>
            <a:off x="6217920" y="1508760"/>
            <a:ext cx="384048" cy="384048"/>
          </a:xfrm>
          <a:prstGeom prst="ellipse">
            <a:avLst/>
          </a:prstGeom>
          <a:solidFill>
            <a:srgbClr val="0E8C80"/>
          </a:solidFill>
          <a:ln w="12700">
            <a:solidFill>
              <a:srgbClr val="0E8C80"/>
            </a:solidFill>
            <a:prstDash val="solid"/>
          </a:ln>
        </p:spPr>
      </p:sp>
      <p:sp>
        <p:nvSpPr>
          <p:cNvPr id="16" name="Text 14"/>
          <p:cNvSpPr txBox="1"/>
          <p:nvPr/>
        </p:nvSpPr>
        <p:spPr>
          <a:xfrm>
            <a:off x="6217920" y="15087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7" name="Text 15"/>
          <p:cNvSpPr txBox="1"/>
          <p:nvPr/>
        </p:nvSpPr>
        <p:spPr>
          <a:xfrm>
            <a:off x="6720840" y="1508760"/>
            <a:ext cx="1783080" cy="384048"/>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Duplicates</a:t>
            </a:r>
            <a:endParaRPr lang="en-US" sz="1400" dirty="0"/>
          </a:p>
        </p:txBody>
      </p:sp>
      <p:sp>
        <p:nvSpPr>
          <p:cNvPr id="18" name="Text 16"/>
          <p:cNvSpPr txBox="1"/>
          <p:nvPr/>
        </p:nvSpPr>
        <p:spPr>
          <a:xfrm>
            <a:off x="6217920" y="1984248"/>
            <a:ext cx="2286000" cy="6400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173,602 removed before splitting (paper: not mentioned)</a:t>
            </a:r>
            <a:endParaRPr lang="en-US" sz="1150" dirty="0"/>
          </a:p>
        </p:txBody>
      </p:sp>
      <p:sp>
        <p:nvSpPr>
          <p:cNvPr id="19" name="Shape 17"/>
          <p:cNvSpPr/>
          <p:nvPr/>
        </p:nvSpPr>
        <p:spPr>
          <a:xfrm>
            <a:off x="457200" y="2926080"/>
            <a:ext cx="2606040" cy="1371600"/>
          </a:xfrm>
          <a:prstGeom prst="roundRect">
            <a:avLst>
              <a:gd name="adj" fmla="val 5333"/>
            </a:avLst>
          </a:prstGeom>
          <a:solidFill>
            <a:srgbClr val="F1F5F8"/>
          </a:solidFill>
          <a:ln w="12700">
            <a:solidFill>
              <a:srgbClr val="F1F5F8"/>
            </a:solidFill>
            <a:prstDash val="solid"/>
          </a:ln>
        </p:spPr>
      </p:sp>
      <p:sp>
        <p:nvSpPr>
          <p:cNvPr id="20" name="Shape 18"/>
          <p:cNvSpPr/>
          <p:nvPr/>
        </p:nvSpPr>
        <p:spPr>
          <a:xfrm>
            <a:off x="640080" y="3108960"/>
            <a:ext cx="384048" cy="384048"/>
          </a:xfrm>
          <a:prstGeom prst="ellipse">
            <a:avLst/>
          </a:prstGeom>
          <a:solidFill>
            <a:srgbClr val="0E8C80"/>
          </a:solidFill>
          <a:ln w="12700">
            <a:solidFill>
              <a:srgbClr val="0E8C80"/>
            </a:solidFill>
            <a:prstDash val="solid"/>
          </a:ln>
        </p:spPr>
      </p:sp>
      <p:sp>
        <p:nvSpPr>
          <p:cNvPr id="21" name="Text 19"/>
          <p:cNvSpPr txBox="1"/>
          <p:nvPr/>
        </p:nvSpPr>
        <p:spPr>
          <a:xfrm>
            <a:off x="640080" y="3108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2" name="Text 20"/>
          <p:cNvSpPr txBox="1"/>
          <p:nvPr/>
        </p:nvSpPr>
        <p:spPr>
          <a:xfrm>
            <a:off x="1143000" y="3108960"/>
            <a:ext cx="1783080" cy="384048"/>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Hyperparameters</a:t>
            </a:r>
            <a:endParaRPr lang="en-US" sz="1400" dirty="0"/>
          </a:p>
        </p:txBody>
      </p:sp>
      <p:sp>
        <p:nvSpPr>
          <p:cNvPr id="23" name="Text 21"/>
          <p:cNvSpPr txBox="1"/>
          <p:nvPr/>
        </p:nvSpPr>
        <p:spPr>
          <a:xfrm>
            <a:off x="640080" y="3584448"/>
            <a:ext cx="2286000" cy="6400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batch size, learning rate, pooling assumed</a:t>
            </a:r>
            <a:endParaRPr lang="en-US" sz="1150" dirty="0"/>
          </a:p>
        </p:txBody>
      </p:sp>
      <p:sp>
        <p:nvSpPr>
          <p:cNvPr id="24" name="Shape 22"/>
          <p:cNvSpPr/>
          <p:nvPr/>
        </p:nvSpPr>
        <p:spPr>
          <a:xfrm>
            <a:off x="3246120" y="2926080"/>
            <a:ext cx="2606040" cy="1371600"/>
          </a:xfrm>
          <a:prstGeom prst="roundRect">
            <a:avLst>
              <a:gd name="adj" fmla="val 5333"/>
            </a:avLst>
          </a:prstGeom>
          <a:solidFill>
            <a:srgbClr val="F1F5F8"/>
          </a:solidFill>
          <a:ln w="12700">
            <a:solidFill>
              <a:srgbClr val="F1F5F8"/>
            </a:solidFill>
            <a:prstDash val="solid"/>
          </a:ln>
        </p:spPr>
      </p:sp>
      <p:sp>
        <p:nvSpPr>
          <p:cNvPr id="25" name="Shape 23"/>
          <p:cNvSpPr/>
          <p:nvPr/>
        </p:nvSpPr>
        <p:spPr>
          <a:xfrm>
            <a:off x="3429000" y="3108960"/>
            <a:ext cx="384048" cy="384048"/>
          </a:xfrm>
          <a:prstGeom prst="ellipse">
            <a:avLst/>
          </a:prstGeom>
          <a:solidFill>
            <a:srgbClr val="0E8C80"/>
          </a:solidFill>
          <a:ln w="12700">
            <a:solidFill>
              <a:srgbClr val="0E8C80"/>
            </a:solidFill>
            <a:prstDash val="solid"/>
          </a:ln>
        </p:spPr>
      </p:sp>
      <p:sp>
        <p:nvSpPr>
          <p:cNvPr id="26" name="Text 24"/>
          <p:cNvSpPr txBox="1"/>
          <p:nvPr/>
        </p:nvSpPr>
        <p:spPr>
          <a:xfrm>
            <a:off x="3429000" y="3108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27" name="Text 25"/>
          <p:cNvSpPr txBox="1"/>
          <p:nvPr/>
        </p:nvSpPr>
        <p:spPr>
          <a:xfrm>
            <a:off x="3931920" y="3108960"/>
            <a:ext cx="1783080" cy="384048"/>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Class weights</a:t>
            </a:r>
            <a:endParaRPr lang="en-US" sz="1400" dirty="0"/>
          </a:p>
        </p:txBody>
      </p:sp>
      <p:sp>
        <p:nvSpPr>
          <p:cNvPr id="28" name="Text 26"/>
          <p:cNvSpPr txBox="1"/>
          <p:nvPr/>
        </p:nvSpPr>
        <p:spPr>
          <a:xfrm>
            <a:off x="3429000" y="3584448"/>
            <a:ext cx="2286000" cy="6400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we weight the rare benign class; paper does not say</a:t>
            </a:r>
            <a:endParaRPr lang="en-US" sz="1150" dirty="0"/>
          </a:p>
        </p:txBody>
      </p:sp>
      <p:sp>
        <p:nvSpPr>
          <p:cNvPr id="29" name="Shape 27"/>
          <p:cNvSpPr/>
          <p:nvPr/>
        </p:nvSpPr>
        <p:spPr>
          <a:xfrm>
            <a:off x="6035040" y="2926080"/>
            <a:ext cx="2606040" cy="1371600"/>
          </a:xfrm>
          <a:prstGeom prst="roundRect">
            <a:avLst>
              <a:gd name="adj" fmla="val 5333"/>
            </a:avLst>
          </a:prstGeom>
          <a:solidFill>
            <a:srgbClr val="F1F5F8"/>
          </a:solidFill>
          <a:ln w="12700">
            <a:solidFill>
              <a:srgbClr val="F1F5F8"/>
            </a:solidFill>
            <a:prstDash val="solid"/>
          </a:ln>
        </p:spPr>
      </p:sp>
      <p:sp>
        <p:nvSpPr>
          <p:cNvPr id="30" name="Shape 28"/>
          <p:cNvSpPr/>
          <p:nvPr/>
        </p:nvSpPr>
        <p:spPr>
          <a:xfrm>
            <a:off x="6217920" y="3108960"/>
            <a:ext cx="384048" cy="384048"/>
          </a:xfrm>
          <a:prstGeom prst="ellipse">
            <a:avLst/>
          </a:prstGeom>
          <a:solidFill>
            <a:srgbClr val="0E8C80"/>
          </a:solidFill>
          <a:ln w="12700">
            <a:solidFill>
              <a:srgbClr val="0E8C80"/>
            </a:solidFill>
            <a:prstDash val="solid"/>
          </a:ln>
        </p:spPr>
      </p:sp>
      <p:sp>
        <p:nvSpPr>
          <p:cNvPr id="31" name="Text 29"/>
          <p:cNvSpPr txBox="1"/>
          <p:nvPr/>
        </p:nvSpPr>
        <p:spPr>
          <a:xfrm>
            <a:off x="6217920" y="3108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32" name="Text 30"/>
          <p:cNvSpPr txBox="1"/>
          <p:nvPr/>
        </p:nvSpPr>
        <p:spPr>
          <a:xfrm>
            <a:off x="6720840" y="3108960"/>
            <a:ext cx="1783080" cy="384048"/>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Features</a:t>
            </a:r>
            <a:endParaRPr lang="en-US" sz="1400" dirty="0"/>
          </a:p>
        </p:txBody>
      </p:sp>
      <p:sp>
        <p:nvSpPr>
          <p:cNvPr id="33" name="Text 31"/>
          <p:cNvSpPr txBox="1"/>
          <p:nvPr/>
        </p:nvSpPr>
        <p:spPr>
          <a:xfrm>
            <a:off x="6217920" y="3584448"/>
            <a:ext cx="2286000" cy="64008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41 used vs 45 in the paper</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548640" y="411480"/>
            <a:ext cx="8046720" cy="64008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Conclusions</a:t>
            </a:r>
            <a:endParaRPr lang="en-US" sz="3400" dirty="0"/>
          </a:p>
        </p:txBody>
      </p:sp>
      <p:sp>
        <p:nvSpPr>
          <p:cNvPr id="3" name="Shape 1"/>
          <p:cNvSpPr/>
          <p:nvPr/>
        </p:nvSpPr>
        <p:spPr>
          <a:xfrm>
            <a:off x="548640" y="1371600"/>
            <a:ext cx="384048" cy="384048"/>
          </a:xfrm>
          <a:prstGeom prst="ellipse">
            <a:avLst/>
          </a:prstGeom>
          <a:solidFill>
            <a:srgbClr val="0E8C80"/>
          </a:solidFill>
          <a:ln w="12700">
            <a:solidFill>
              <a:srgbClr val="0E8C80"/>
            </a:solidFill>
            <a:prstDash val="solid"/>
          </a:ln>
        </p:spPr>
      </p:sp>
      <p:sp>
        <p:nvSpPr>
          <p:cNvPr id="4" name="Text 2"/>
          <p:cNvSpPr txBox="1"/>
          <p:nvPr/>
        </p:nvSpPr>
        <p:spPr>
          <a:xfrm>
            <a:off x="548640" y="13716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5" name="Text 3"/>
          <p:cNvSpPr txBox="1"/>
          <p:nvPr/>
        </p:nvSpPr>
        <p:spPr>
          <a:xfrm>
            <a:off x="1097280" y="1325880"/>
            <a:ext cx="7498080" cy="347472"/>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Reproduced: 98.74% accuracy vs the paper's 98.42%</a:t>
            </a:r>
            <a:endParaRPr lang="en-US" sz="1600" dirty="0"/>
          </a:p>
        </p:txBody>
      </p:sp>
      <p:sp>
        <p:nvSpPr>
          <p:cNvPr id="6" name="Text 4"/>
          <p:cNvSpPr txBox="1"/>
          <p:nvPr/>
        </p:nvSpPr>
        <p:spPr>
          <a:xfrm>
            <a:off x="1097280" y="1673352"/>
            <a:ext cx="7498080" cy="347472"/>
          </a:xfrm>
          <a:prstGeom prst="rect">
            <a:avLst/>
          </a:prstGeom>
          <a:noFill/>
          <a:ln/>
        </p:spPr>
        <p:txBody>
          <a:bodyPr wrap="square" lIns="0" tIns="0" rIns="0" bIns="0" rtlCol="0" anchor="ctr"/>
          <a:lstStyle/>
          <a:p>
            <a:pPr indent="0" marL="0">
              <a:buNone/>
            </a:pPr>
            <a:r>
              <a:rPr lang="en-US" sz="1300" dirty="0">
                <a:solidFill>
                  <a:srgbClr val="C9D3DD"/>
                </a:solidFill>
                <a:latin typeface="Calibri" pitchFamily="34" charset="0"/>
                <a:ea typeface="Calibri" pitchFamily="34" charset="-122"/>
                <a:cs typeface="Calibri" pitchFamily="34" charset="-120"/>
              </a:rPr>
              <a:t>The CNN-LSTM works as described on real CICIoT2023 traffic.</a:t>
            </a:r>
            <a:endParaRPr lang="en-US" sz="1300" dirty="0"/>
          </a:p>
        </p:txBody>
      </p:sp>
      <p:sp>
        <p:nvSpPr>
          <p:cNvPr id="7" name="Shape 5"/>
          <p:cNvSpPr/>
          <p:nvPr/>
        </p:nvSpPr>
        <p:spPr>
          <a:xfrm>
            <a:off x="548640" y="2240280"/>
            <a:ext cx="384048" cy="384048"/>
          </a:xfrm>
          <a:prstGeom prst="ellipse">
            <a:avLst/>
          </a:prstGeom>
          <a:solidFill>
            <a:srgbClr val="0E8C80"/>
          </a:solidFill>
          <a:ln w="12700">
            <a:solidFill>
              <a:srgbClr val="0E8C80"/>
            </a:solidFill>
            <a:prstDash val="solid"/>
          </a:ln>
        </p:spPr>
      </p:sp>
      <p:sp>
        <p:nvSpPr>
          <p:cNvPr id="8" name="Text 6"/>
          <p:cNvSpPr txBox="1"/>
          <p:nvPr/>
        </p:nvSpPr>
        <p:spPr>
          <a:xfrm>
            <a:off x="548640" y="2240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9" name="Text 7"/>
          <p:cNvSpPr txBox="1"/>
          <p:nvPr/>
        </p:nvSpPr>
        <p:spPr>
          <a:xfrm>
            <a:off x="1097280" y="2194560"/>
            <a:ext cx="7498080" cy="347472"/>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Accuracy is not enough</a:t>
            </a:r>
            <a:endParaRPr lang="en-US" sz="1600" dirty="0"/>
          </a:p>
        </p:txBody>
      </p:sp>
      <p:sp>
        <p:nvSpPr>
          <p:cNvPr id="10" name="Text 8"/>
          <p:cNvSpPr txBox="1"/>
          <p:nvPr/>
        </p:nvSpPr>
        <p:spPr>
          <a:xfrm>
            <a:off x="1097280" y="2542032"/>
            <a:ext cx="7498080" cy="347472"/>
          </a:xfrm>
          <a:prstGeom prst="rect">
            <a:avLst/>
          </a:prstGeom>
          <a:noFill/>
          <a:ln/>
        </p:spPr>
        <p:txBody>
          <a:bodyPr wrap="square" lIns="0" tIns="0" rIns="0" bIns="0" rtlCol="0" anchor="ctr"/>
          <a:lstStyle/>
          <a:p>
            <a:pPr indent="0" marL="0">
              <a:buNone/>
            </a:pPr>
            <a:r>
              <a:rPr lang="en-US" sz="1300" dirty="0">
                <a:solidFill>
                  <a:srgbClr val="C9D3DD"/>
                </a:solidFill>
                <a:latin typeface="Calibri" pitchFamily="34" charset="0"/>
                <a:ea typeface="Calibri" pitchFamily="34" charset="-122"/>
                <a:cs typeface="Calibri" pitchFamily="34" charset="-120"/>
              </a:rPr>
              <a:t>97% of flows are attacks; MCC 0.818 and per-attack errors tell the real story.</a:t>
            </a:r>
            <a:endParaRPr lang="en-US" sz="1300" dirty="0"/>
          </a:p>
        </p:txBody>
      </p:sp>
      <p:sp>
        <p:nvSpPr>
          <p:cNvPr id="11" name="Shape 9"/>
          <p:cNvSpPr/>
          <p:nvPr/>
        </p:nvSpPr>
        <p:spPr>
          <a:xfrm>
            <a:off x="548640" y="3108960"/>
            <a:ext cx="384048" cy="384048"/>
          </a:xfrm>
          <a:prstGeom prst="ellipse">
            <a:avLst/>
          </a:prstGeom>
          <a:solidFill>
            <a:srgbClr val="0E8C80"/>
          </a:solidFill>
          <a:ln w="12700">
            <a:solidFill>
              <a:srgbClr val="0E8C80"/>
            </a:solidFill>
            <a:prstDash val="solid"/>
          </a:ln>
        </p:spPr>
      </p:sp>
      <p:sp>
        <p:nvSpPr>
          <p:cNvPr id="12" name="Text 10"/>
          <p:cNvSpPr txBox="1"/>
          <p:nvPr/>
        </p:nvSpPr>
        <p:spPr>
          <a:xfrm>
            <a:off x="548640" y="3108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3" name="Text 11"/>
          <p:cNvSpPr txBox="1"/>
          <p:nvPr/>
        </p:nvSpPr>
        <p:spPr>
          <a:xfrm>
            <a:off x="1097280" y="3063240"/>
            <a:ext cx="7498080" cy="347472"/>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Simpler models do as well or better</a:t>
            </a:r>
            <a:endParaRPr lang="en-US" sz="1600" dirty="0"/>
          </a:p>
        </p:txBody>
      </p:sp>
      <p:sp>
        <p:nvSpPr>
          <p:cNvPr id="14" name="Text 12"/>
          <p:cNvSpPr txBox="1"/>
          <p:nvPr/>
        </p:nvSpPr>
        <p:spPr>
          <a:xfrm>
            <a:off x="1097280" y="3410712"/>
            <a:ext cx="7498080" cy="347472"/>
          </a:xfrm>
          <a:prstGeom prst="rect">
            <a:avLst/>
          </a:prstGeom>
          <a:noFill/>
          <a:ln/>
        </p:spPr>
        <p:txBody>
          <a:bodyPr wrap="square" lIns="0" tIns="0" rIns="0" bIns="0" rtlCol="0" anchor="ctr"/>
          <a:lstStyle/>
          <a:p>
            <a:pPr indent="0" marL="0">
              <a:buNone/>
            </a:pPr>
            <a:r>
              <a:rPr lang="en-US" sz="1300" dirty="0">
                <a:solidFill>
                  <a:srgbClr val="C9D3DD"/>
                </a:solidFill>
                <a:latin typeface="Calibri" pitchFamily="34" charset="0"/>
                <a:ea typeface="Calibri" pitchFamily="34" charset="-122"/>
                <a:cs typeface="Calibri" pitchFamily="34" charset="-120"/>
              </a:rPr>
              <a:t>No gain from the LSTM branch; Random Forest is strongest here.</a:t>
            </a:r>
            <a:endParaRPr lang="en-US" sz="1300" dirty="0"/>
          </a:p>
        </p:txBody>
      </p:sp>
      <p:sp>
        <p:nvSpPr>
          <p:cNvPr id="15" name="Shape 13"/>
          <p:cNvSpPr/>
          <p:nvPr/>
        </p:nvSpPr>
        <p:spPr>
          <a:xfrm>
            <a:off x="548640" y="3977640"/>
            <a:ext cx="384048" cy="384048"/>
          </a:xfrm>
          <a:prstGeom prst="ellipse">
            <a:avLst/>
          </a:prstGeom>
          <a:solidFill>
            <a:srgbClr val="0E8C80"/>
          </a:solidFill>
          <a:ln w="12700">
            <a:solidFill>
              <a:srgbClr val="0E8C80"/>
            </a:solidFill>
            <a:prstDash val="solid"/>
          </a:ln>
        </p:spPr>
      </p:sp>
      <p:sp>
        <p:nvSpPr>
          <p:cNvPr id="16" name="Text 14"/>
          <p:cNvSpPr txBox="1"/>
          <p:nvPr/>
        </p:nvSpPr>
        <p:spPr>
          <a:xfrm>
            <a:off x="548640" y="39776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7" name="Text 15"/>
          <p:cNvSpPr txBox="1"/>
          <p:nvPr/>
        </p:nvSpPr>
        <p:spPr>
          <a:xfrm>
            <a:off x="1097280" y="3931920"/>
            <a:ext cx="7498080" cy="347472"/>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Next steps</a:t>
            </a:r>
            <a:endParaRPr lang="en-US" sz="1600" dirty="0"/>
          </a:p>
        </p:txBody>
      </p:sp>
      <p:sp>
        <p:nvSpPr>
          <p:cNvPr id="18" name="Text 16"/>
          <p:cNvSpPr txBox="1"/>
          <p:nvPr/>
        </p:nvSpPr>
        <p:spPr>
          <a:xfrm>
            <a:off x="1097280" y="4279392"/>
            <a:ext cx="7498080" cy="347472"/>
          </a:xfrm>
          <a:prstGeom prst="rect">
            <a:avLst/>
          </a:prstGeom>
          <a:noFill/>
          <a:ln/>
        </p:spPr>
        <p:txBody>
          <a:bodyPr wrap="square" lIns="0" tIns="0" rIns="0" bIns="0" rtlCol="0" anchor="ctr"/>
          <a:lstStyle/>
          <a:p>
            <a:pPr indent="0" marL="0">
              <a:buNone/>
            </a:pPr>
            <a:r>
              <a:rPr lang="en-US" sz="1300" dirty="0">
                <a:solidFill>
                  <a:srgbClr val="C9D3DD"/>
                </a:solidFill>
                <a:latin typeface="Calibri" pitchFamily="34" charset="0"/>
                <a:ea typeface="Calibri" pitchFamily="34" charset="-122"/>
                <a:cs typeface="Calibri" pitchFamily="34" charset="-120"/>
              </a:rPr>
              <a:t>Multiclass detection, rare-attack handling, and a live Raspberry Pi deployment.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 Network Intrusion Detection - CNN-LSTM IDS reproduction</dc:title>
  <dc:subject>PptxGenJS Presentation</dc:subject>
  <dc:creator>Aayushman, Ashutosh Kumar, Sahil Mengji</dc:creator>
  <cp:lastModifiedBy>Aayushman, Ashutosh Kumar, Sahil Mengji</cp:lastModifiedBy>
  <cp:revision>1</cp:revision>
  <dcterms:created xsi:type="dcterms:W3CDTF">2026-09-29T12:08:22Z</dcterms:created>
  <dcterms:modified xsi:type="dcterms:W3CDTF">2026-09-29T12:08:22Z</dcterms:modified>
</cp:coreProperties>
</file>